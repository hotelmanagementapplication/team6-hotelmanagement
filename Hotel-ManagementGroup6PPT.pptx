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11607800"/>
  <p:notesSz cx="11430000" cy="11607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243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54025"/>
            <a:ext cx="9083675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20930" y="1687512"/>
            <a:ext cx="4842509" cy="437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0C0D0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" y="253"/>
            <a:ext cx="4790097" cy="1160754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978931" y="4203700"/>
            <a:ext cx="548767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105" dirty="0"/>
              <a:t>Hotel</a:t>
            </a:r>
            <a:r>
              <a:rPr spc="-204" dirty="0"/>
              <a:t> </a:t>
            </a:r>
            <a:r>
              <a:rPr spc="-114" dirty="0"/>
              <a:t>Management</a:t>
            </a:r>
            <a:r>
              <a:rPr spc="-204" dirty="0"/>
              <a:t> </a:t>
            </a:r>
            <a:r>
              <a:rPr spc="-90" dirty="0"/>
              <a:t>System </a:t>
            </a:r>
            <a:r>
              <a:rPr spc="-25" dirty="0"/>
              <a:t>API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57753" y="5376862"/>
            <a:ext cx="5662295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>
              <a:lnSpc>
                <a:spcPct val="134300"/>
              </a:lnSpc>
              <a:spcBef>
                <a:spcPts val="100"/>
              </a:spcBef>
            </a:pP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RESTful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backend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solution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built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75" dirty="0">
                <a:solidFill>
                  <a:srgbClr val="545759"/>
                </a:solidFill>
                <a:latin typeface="Arial Black"/>
                <a:cs typeface="Arial Black"/>
              </a:rPr>
              <a:t>ASP.NET</a:t>
            </a:r>
            <a:r>
              <a:rPr sz="1350" spc="-20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Arial Black"/>
                <a:cs typeface="Arial Black"/>
              </a:rPr>
              <a:t>Core</a:t>
            </a:r>
            <a:r>
              <a:rPr sz="1350" spc="-15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105" dirty="0">
                <a:solidFill>
                  <a:srgbClr val="545759"/>
                </a:solidFill>
                <a:latin typeface="Arial Black"/>
                <a:cs typeface="Arial Black"/>
              </a:rPr>
              <a:t>Web</a:t>
            </a:r>
            <a:r>
              <a:rPr sz="1350" spc="-15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145" dirty="0">
                <a:solidFill>
                  <a:srgbClr val="545759"/>
                </a:solidFill>
                <a:latin typeface="Arial Black"/>
                <a:cs typeface="Arial Black"/>
              </a:rPr>
              <a:t>API</a:t>
            </a:r>
            <a:r>
              <a:rPr sz="1350" spc="-15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105" dirty="0">
                <a:solidFill>
                  <a:srgbClr val="545759"/>
                </a:solidFill>
                <a:latin typeface="Arial Black"/>
                <a:cs typeface="Arial Black"/>
              </a:rPr>
              <a:t>(.NET</a:t>
            </a:r>
            <a:r>
              <a:rPr sz="1350" spc="-19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dirty="0">
                <a:solidFill>
                  <a:srgbClr val="545759"/>
                </a:solidFill>
                <a:latin typeface="Arial Black"/>
                <a:cs typeface="Arial Black"/>
              </a:rPr>
              <a:t>8)</a:t>
            </a:r>
            <a:r>
              <a:rPr sz="1350" spc="-15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350" dirty="0">
                <a:solidFill>
                  <a:srgbClr val="545759"/>
                </a:solidFill>
                <a:latin typeface="Verdana"/>
                <a:cs typeface="Verdana"/>
              </a:rPr>
              <a:t>—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 powering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operations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through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clean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architecture,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robust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data </a:t>
            </a: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management,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scalable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design.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957753" y="8030210"/>
            <a:ext cx="1219200" cy="323850"/>
          </a:xfrm>
          <a:custGeom>
            <a:avLst/>
            <a:gdLst/>
            <a:ahLst/>
            <a:cxnLst/>
            <a:rect l="l" t="t" r="r" b="b"/>
            <a:pathLst>
              <a:path w="1219200" h="323850">
                <a:moveTo>
                  <a:pt x="1123086" y="0"/>
                </a:moveTo>
                <a:lnTo>
                  <a:pt x="96113" y="0"/>
                </a:lnTo>
                <a:lnTo>
                  <a:pt x="89420" y="660"/>
                </a:lnTo>
                <a:lnTo>
                  <a:pt x="51333" y="13589"/>
                </a:lnTo>
                <a:lnTo>
                  <a:pt x="21094" y="40093"/>
                </a:lnTo>
                <a:lnTo>
                  <a:pt x="3289" y="76174"/>
                </a:lnTo>
                <a:lnTo>
                  <a:pt x="0" y="96113"/>
                </a:lnTo>
                <a:lnTo>
                  <a:pt x="0" y="220980"/>
                </a:lnTo>
                <a:lnTo>
                  <a:pt x="0" y="227736"/>
                </a:lnTo>
                <a:lnTo>
                  <a:pt x="10414" y="266585"/>
                </a:lnTo>
                <a:lnTo>
                  <a:pt x="34899" y="298500"/>
                </a:lnTo>
                <a:lnTo>
                  <a:pt x="69735" y="318604"/>
                </a:lnTo>
                <a:lnTo>
                  <a:pt x="96113" y="323850"/>
                </a:lnTo>
                <a:lnTo>
                  <a:pt x="1123086" y="323850"/>
                </a:lnTo>
                <a:lnTo>
                  <a:pt x="1161935" y="313436"/>
                </a:lnTo>
                <a:lnTo>
                  <a:pt x="1193850" y="288937"/>
                </a:lnTo>
                <a:lnTo>
                  <a:pt x="1213954" y="254101"/>
                </a:lnTo>
                <a:lnTo>
                  <a:pt x="1219200" y="227736"/>
                </a:lnTo>
                <a:lnTo>
                  <a:pt x="1219200" y="96113"/>
                </a:lnTo>
                <a:lnTo>
                  <a:pt x="1208786" y="57264"/>
                </a:lnTo>
                <a:lnTo>
                  <a:pt x="1184300" y="25349"/>
                </a:lnTo>
                <a:lnTo>
                  <a:pt x="1149451" y="5245"/>
                </a:lnTo>
                <a:lnTo>
                  <a:pt x="1129779" y="660"/>
                </a:lnTo>
                <a:lnTo>
                  <a:pt x="1123086" y="0"/>
                </a:lnTo>
                <a:close/>
              </a:path>
            </a:pathLst>
          </a:custGeom>
          <a:solidFill>
            <a:srgbClr val="FFD7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67440" y="8025447"/>
            <a:ext cx="752475" cy="333375"/>
          </a:xfrm>
          <a:custGeom>
            <a:avLst/>
            <a:gdLst/>
            <a:ahLst/>
            <a:cxnLst/>
            <a:rect l="l" t="t" r="r" b="b"/>
            <a:pathLst>
              <a:path w="752475" h="333375">
                <a:moveTo>
                  <a:pt x="0" y="235267"/>
                </a:moveTo>
                <a:lnTo>
                  <a:pt x="0" y="98107"/>
                </a:lnTo>
                <a:lnTo>
                  <a:pt x="0" y="91668"/>
                </a:lnTo>
                <a:lnTo>
                  <a:pt x="635" y="85280"/>
                </a:lnTo>
                <a:lnTo>
                  <a:pt x="1879" y="78968"/>
                </a:lnTo>
                <a:lnTo>
                  <a:pt x="3136" y="72644"/>
                </a:lnTo>
                <a:lnTo>
                  <a:pt x="5003" y="66509"/>
                </a:lnTo>
                <a:lnTo>
                  <a:pt x="7467" y="60566"/>
                </a:lnTo>
                <a:lnTo>
                  <a:pt x="9931" y="54610"/>
                </a:lnTo>
                <a:lnTo>
                  <a:pt x="12954" y="48958"/>
                </a:lnTo>
                <a:lnTo>
                  <a:pt x="16535" y="43599"/>
                </a:lnTo>
                <a:lnTo>
                  <a:pt x="20116" y="38239"/>
                </a:lnTo>
                <a:lnTo>
                  <a:pt x="24180" y="33286"/>
                </a:lnTo>
                <a:lnTo>
                  <a:pt x="28740" y="28740"/>
                </a:lnTo>
                <a:lnTo>
                  <a:pt x="33286" y="24180"/>
                </a:lnTo>
                <a:lnTo>
                  <a:pt x="66522" y="5003"/>
                </a:lnTo>
                <a:lnTo>
                  <a:pt x="78968" y="1892"/>
                </a:lnTo>
                <a:lnTo>
                  <a:pt x="85280" y="622"/>
                </a:lnTo>
                <a:lnTo>
                  <a:pt x="91668" y="0"/>
                </a:lnTo>
                <a:lnTo>
                  <a:pt x="98107" y="0"/>
                </a:lnTo>
                <a:lnTo>
                  <a:pt x="654367" y="0"/>
                </a:lnTo>
                <a:lnTo>
                  <a:pt x="660806" y="0"/>
                </a:lnTo>
                <a:lnTo>
                  <a:pt x="667181" y="622"/>
                </a:lnTo>
                <a:lnTo>
                  <a:pt x="673506" y="1892"/>
                </a:lnTo>
                <a:lnTo>
                  <a:pt x="679831" y="3136"/>
                </a:lnTo>
                <a:lnTo>
                  <a:pt x="685965" y="5003"/>
                </a:lnTo>
                <a:lnTo>
                  <a:pt x="691908" y="7467"/>
                </a:lnTo>
                <a:lnTo>
                  <a:pt x="697865" y="9931"/>
                </a:lnTo>
                <a:lnTo>
                  <a:pt x="728294" y="33286"/>
                </a:lnTo>
                <a:lnTo>
                  <a:pt x="735939" y="43599"/>
                </a:lnTo>
                <a:lnTo>
                  <a:pt x="739521" y="48958"/>
                </a:lnTo>
                <a:lnTo>
                  <a:pt x="742543" y="54610"/>
                </a:lnTo>
                <a:lnTo>
                  <a:pt x="745007" y="60566"/>
                </a:lnTo>
                <a:lnTo>
                  <a:pt x="747471" y="66509"/>
                </a:lnTo>
                <a:lnTo>
                  <a:pt x="749338" y="72644"/>
                </a:lnTo>
                <a:lnTo>
                  <a:pt x="750595" y="78968"/>
                </a:lnTo>
                <a:lnTo>
                  <a:pt x="751840" y="85280"/>
                </a:lnTo>
                <a:lnTo>
                  <a:pt x="752475" y="91668"/>
                </a:lnTo>
                <a:lnTo>
                  <a:pt x="752475" y="98107"/>
                </a:lnTo>
                <a:lnTo>
                  <a:pt x="752475" y="235267"/>
                </a:lnTo>
                <a:lnTo>
                  <a:pt x="752475" y="241706"/>
                </a:lnTo>
                <a:lnTo>
                  <a:pt x="751840" y="248081"/>
                </a:lnTo>
                <a:lnTo>
                  <a:pt x="750595" y="254406"/>
                </a:lnTo>
                <a:lnTo>
                  <a:pt x="749338" y="260718"/>
                </a:lnTo>
                <a:lnTo>
                  <a:pt x="747471" y="266865"/>
                </a:lnTo>
                <a:lnTo>
                  <a:pt x="745007" y="272808"/>
                </a:lnTo>
                <a:lnTo>
                  <a:pt x="742543" y="278765"/>
                </a:lnTo>
                <a:lnTo>
                  <a:pt x="739521" y="284416"/>
                </a:lnTo>
                <a:lnTo>
                  <a:pt x="735939" y="289763"/>
                </a:lnTo>
                <a:lnTo>
                  <a:pt x="732358" y="295122"/>
                </a:lnTo>
                <a:lnTo>
                  <a:pt x="703516" y="320421"/>
                </a:lnTo>
                <a:lnTo>
                  <a:pt x="691908" y="325907"/>
                </a:lnTo>
                <a:lnTo>
                  <a:pt x="685965" y="328371"/>
                </a:lnTo>
                <a:lnTo>
                  <a:pt x="679831" y="330225"/>
                </a:lnTo>
                <a:lnTo>
                  <a:pt x="673506" y="331495"/>
                </a:lnTo>
                <a:lnTo>
                  <a:pt x="667181" y="332740"/>
                </a:lnTo>
                <a:lnTo>
                  <a:pt x="660806" y="333375"/>
                </a:lnTo>
                <a:lnTo>
                  <a:pt x="654367" y="333375"/>
                </a:lnTo>
                <a:lnTo>
                  <a:pt x="98107" y="333375"/>
                </a:lnTo>
                <a:lnTo>
                  <a:pt x="91668" y="333375"/>
                </a:lnTo>
                <a:lnTo>
                  <a:pt x="85280" y="332740"/>
                </a:lnTo>
                <a:lnTo>
                  <a:pt x="48958" y="320421"/>
                </a:lnTo>
                <a:lnTo>
                  <a:pt x="28740" y="304634"/>
                </a:lnTo>
                <a:lnTo>
                  <a:pt x="24180" y="300088"/>
                </a:lnTo>
                <a:lnTo>
                  <a:pt x="7467" y="272808"/>
                </a:lnTo>
                <a:lnTo>
                  <a:pt x="5003" y="266865"/>
                </a:lnTo>
                <a:lnTo>
                  <a:pt x="3136" y="260718"/>
                </a:lnTo>
                <a:lnTo>
                  <a:pt x="1879" y="254406"/>
                </a:lnTo>
                <a:lnTo>
                  <a:pt x="635" y="248081"/>
                </a:lnTo>
                <a:lnTo>
                  <a:pt x="0" y="241706"/>
                </a:lnTo>
                <a:lnTo>
                  <a:pt x="0" y="235267"/>
                </a:lnTo>
                <a:close/>
              </a:path>
            </a:pathLst>
          </a:custGeom>
          <a:ln w="9525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113356" y="8004356"/>
            <a:ext cx="981075" cy="333375"/>
          </a:xfrm>
          <a:custGeom>
            <a:avLst/>
            <a:gdLst/>
            <a:ahLst/>
            <a:cxnLst/>
            <a:rect l="l" t="t" r="r" b="b"/>
            <a:pathLst>
              <a:path w="981075" h="333375">
                <a:moveTo>
                  <a:pt x="0" y="235267"/>
                </a:moveTo>
                <a:lnTo>
                  <a:pt x="0" y="98107"/>
                </a:lnTo>
                <a:lnTo>
                  <a:pt x="0" y="91668"/>
                </a:lnTo>
                <a:lnTo>
                  <a:pt x="635" y="85280"/>
                </a:lnTo>
                <a:lnTo>
                  <a:pt x="1879" y="78968"/>
                </a:lnTo>
                <a:lnTo>
                  <a:pt x="3136" y="72644"/>
                </a:lnTo>
                <a:lnTo>
                  <a:pt x="5003" y="66509"/>
                </a:lnTo>
                <a:lnTo>
                  <a:pt x="7467" y="60566"/>
                </a:lnTo>
                <a:lnTo>
                  <a:pt x="9931" y="54610"/>
                </a:lnTo>
                <a:lnTo>
                  <a:pt x="12954" y="48958"/>
                </a:lnTo>
                <a:lnTo>
                  <a:pt x="16535" y="43599"/>
                </a:lnTo>
                <a:lnTo>
                  <a:pt x="20116" y="38239"/>
                </a:lnTo>
                <a:lnTo>
                  <a:pt x="24180" y="33286"/>
                </a:lnTo>
                <a:lnTo>
                  <a:pt x="28740" y="28740"/>
                </a:lnTo>
                <a:lnTo>
                  <a:pt x="33286" y="24180"/>
                </a:lnTo>
                <a:lnTo>
                  <a:pt x="66522" y="5003"/>
                </a:lnTo>
                <a:lnTo>
                  <a:pt x="78968" y="1892"/>
                </a:lnTo>
                <a:lnTo>
                  <a:pt x="85280" y="622"/>
                </a:lnTo>
                <a:lnTo>
                  <a:pt x="91668" y="0"/>
                </a:lnTo>
                <a:lnTo>
                  <a:pt x="98107" y="0"/>
                </a:lnTo>
                <a:lnTo>
                  <a:pt x="882967" y="0"/>
                </a:lnTo>
                <a:lnTo>
                  <a:pt x="889406" y="0"/>
                </a:lnTo>
                <a:lnTo>
                  <a:pt x="895781" y="622"/>
                </a:lnTo>
                <a:lnTo>
                  <a:pt x="902106" y="1892"/>
                </a:lnTo>
                <a:lnTo>
                  <a:pt x="908418" y="3136"/>
                </a:lnTo>
                <a:lnTo>
                  <a:pt x="914565" y="5003"/>
                </a:lnTo>
                <a:lnTo>
                  <a:pt x="920508" y="7467"/>
                </a:lnTo>
                <a:lnTo>
                  <a:pt x="926465" y="9931"/>
                </a:lnTo>
                <a:lnTo>
                  <a:pt x="952334" y="28740"/>
                </a:lnTo>
                <a:lnTo>
                  <a:pt x="956894" y="33286"/>
                </a:lnTo>
                <a:lnTo>
                  <a:pt x="960958" y="38239"/>
                </a:lnTo>
                <a:lnTo>
                  <a:pt x="964539" y="43599"/>
                </a:lnTo>
                <a:lnTo>
                  <a:pt x="968121" y="48958"/>
                </a:lnTo>
                <a:lnTo>
                  <a:pt x="971143" y="54610"/>
                </a:lnTo>
                <a:lnTo>
                  <a:pt x="973607" y="60566"/>
                </a:lnTo>
                <a:lnTo>
                  <a:pt x="976071" y="66509"/>
                </a:lnTo>
                <a:lnTo>
                  <a:pt x="977925" y="72644"/>
                </a:lnTo>
                <a:lnTo>
                  <a:pt x="979195" y="78968"/>
                </a:lnTo>
                <a:lnTo>
                  <a:pt x="980440" y="85280"/>
                </a:lnTo>
                <a:lnTo>
                  <a:pt x="981075" y="91668"/>
                </a:lnTo>
                <a:lnTo>
                  <a:pt x="981075" y="98107"/>
                </a:lnTo>
                <a:lnTo>
                  <a:pt x="981075" y="235267"/>
                </a:lnTo>
                <a:lnTo>
                  <a:pt x="981075" y="241706"/>
                </a:lnTo>
                <a:lnTo>
                  <a:pt x="980440" y="248081"/>
                </a:lnTo>
                <a:lnTo>
                  <a:pt x="979195" y="254406"/>
                </a:lnTo>
                <a:lnTo>
                  <a:pt x="977925" y="260718"/>
                </a:lnTo>
                <a:lnTo>
                  <a:pt x="976071" y="266865"/>
                </a:lnTo>
                <a:lnTo>
                  <a:pt x="973607" y="272808"/>
                </a:lnTo>
                <a:lnTo>
                  <a:pt x="971143" y="278765"/>
                </a:lnTo>
                <a:lnTo>
                  <a:pt x="968121" y="284416"/>
                </a:lnTo>
                <a:lnTo>
                  <a:pt x="964539" y="289763"/>
                </a:lnTo>
                <a:lnTo>
                  <a:pt x="960958" y="295122"/>
                </a:lnTo>
                <a:lnTo>
                  <a:pt x="956894" y="300088"/>
                </a:lnTo>
                <a:lnTo>
                  <a:pt x="952334" y="304634"/>
                </a:lnTo>
                <a:lnTo>
                  <a:pt x="947788" y="309194"/>
                </a:lnTo>
                <a:lnTo>
                  <a:pt x="920508" y="325907"/>
                </a:lnTo>
                <a:lnTo>
                  <a:pt x="914565" y="328371"/>
                </a:lnTo>
                <a:lnTo>
                  <a:pt x="908418" y="330225"/>
                </a:lnTo>
                <a:lnTo>
                  <a:pt x="902106" y="331495"/>
                </a:lnTo>
                <a:lnTo>
                  <a:pt x="895781" y="332740"/>
                </a:lnTo>
                <a:lnTo>
                  <a:pt x="889406" y="333375"/>
                </a:lnTo>
                <a:lnTo>
                  <a:pt x="882967" y="333375"/>
                </a:lnTo>
                <a:lnTo>
                  <a:pt x="98107" y="333375"/>
                </a:lnTo>
                <a:lnTo>
                  <a:pt x="91668" y="333375"/>
                </a:lnTo>
                <a:lnTo>
                  <a:pt x="85280" y="332740"/>
                </a:lnTo>
                <a:lnTo>
                  <a:pt x="48958" y="320421"/>
                </a:lnTo>
                <a:lnTo>
                  <a:pt x="28740" y="304634"/>
                </a:lnTo>
                <a:lnTo>
                  <a:pt x="24180" y="300088"/>
                </a:lnTo>
                <a:lnTo>
                  <a:pt x="7467" y="272808"/>
                </a:lnTo>
                <a:lnTo>
                  <a:pt x="5003" y="266865"/>
                </a:lnTo>
                <a:lnTo>
                  <a:pt x="3136" y="260718"/>
                </a:lnTo>
                <a:lnTo>
                  <a:pt x="1879" y="254406"/>
                </a:lnTo>
                <a:lnTo>
                  <a:pt x="635" y="248081"/>
                </a:lnTo>
                <a:lnTo>
                  <a:pt x="0" y="241706"/>
                </a:lnTo>
                <a:lnTo>
                  <a:pt x="0" y="235267"/>
                </a:lnTo>
                <a:close/>
              </a:path>
            </a:pathLst>
          </a:custGeom>
          <a:ln w="9525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191490" y="8025447"/>
            <a:ext cx="1009650" cy="333375"/>
          </a:xfrm>
          <a:custGeom>
            <a:avLst/>
            <a:gdLst/>
            <a:ahLst/>
            <a:cxnLst/>
            <a:rect l="l" t="t" r="r" b="b"/>
            <a:pathLst>
              <a:path w="1009650" h="333375">
                <a:moveTo>
                  <a:pt x="0" y="235267"/>
                </a:moveTo>
                <a:lnTo>
                  <a:pt x="0" y="98107"/>
                </a:lnTo>
                <a:lnTo>
                  <a:pt x="0" y="91668"/>
                </a:lnTo>
                <a:lnTo>
                  <a:pt x="635" y="85280"/>
                </a:lnTo>
                <a:lnTo>
                  <a:pt x="1879" y="78968"/>
                </a:lnTo>
                <a:lnTo>
                  <a:pt x="3136" y="72644"/>
                </a:lnTo>
                <a:lnTo>
                  <a:pt x="5003" y="66509"/>
                </a:lnTo>
                <a:lnTo>
                  <a:pt x="7467" y="60566"/>
                </a:lnTo>
                <a:lnTo>
                  <a:pt x="9931" y="54610"/>
                </a:lnTo>
                <a:lnTo>
                  <a:pt x="12954" y="48958"/>
                </a:lnTo>
                <a:lnTo>
                  <a:pt x="16535" y="43599"/>
                </a:lnTo>
                <a:lnTo>
                  <a:pt x="20116" y="38239"/>
                </a:lnTo>
                <a:lnTo>
                  <a:pt x="24180" y="33286"/>
                </a:lnTo>
                <a:lnTo>
                  <a:pt x="28740" y="28740"/>
                </a:lnTo>
                <a:lnTo>
                  <a:pt x="33286" y="24180"/>
                </a:lnTo>
                <a:lnTo>
                  <a:pt x="66522" y="5003"/>
                </a:lnTo>
                <a:lnTo>
                  <a:pt x="78968" y="1892"/>
                </a:lnTo>
                <a:lnTo>
                  <a:pt x="85280" y="622"/>
                </a:lnTo>
                <a:lnTo>
                  <a:pt x="91668" y="0"/>
                </a:lnTo>
                <a:lnTo>
                  <a:pt x="98107" y="0"/>
                </a:lnTo>
                <a:lnTo>
                  <a:pt x="911542" y="0"/>
                </a:lnTo>
                <a:lnTo>
                  <a:pt x="917981" y="0"/>
                </a:lnTo>
                <a:lnTo>
                  <a:pt x="924369" y="622"/>
                </a:lnTo>
                <a:lnTo>
                  <a:pt x="930681" y="1892"/>
                </a:lnTo>
                <a:lnTo>
                  <a:pt x="936993" y="3136"/>
                </a:lnTo>
                <a:lnTo>
                  <a:pt x="943140" y="5003"/>
                </a:lnTo>
                <a:lnTo>
                  <a:pt x="949083" y="7467"/>
                </a:lnTo>
                <a:lnTo>
                  <a:pt x="955040" y="9931"/>
                </a:lnTo>
                <a:lnTo>
                  <a:pt x="980909" y="28740"/>
                </a:lnTo>
                <a:lnTo>
                  <a:pt x="985469" y="33286"/>
                </a:lnTo>
                <a:lnTo>
                  <a:pt x="989533" y="38239"/>
                </a:lnTo>
                <a:lnTo>
                  <a:pt x="993114" y="43599"/>
                </a:lnTo>
                <a:lnTo>
                  <a:pt x="996696" y="48958"/>
                </a:lnTo>
                <a:lnTo>
                  <a:pt x="999718" y="54610"/>
                </a:lnTo>
                <a:lnTo>
                  <a:pt x="1002182" y="60566"/>
                </a:lnTo>
                <a:lnTo>
                  <a:pt x="1004646" y="66509"/>
                </a:lnTo>
                <a:lnTo>
                  <a:pt x="1006500" y="72644"/>
                </a:lnTo>
                <a:lnTo>
                  <a:pt x="1007770" y="78968"/>
                </a:lnTo>
                <a:lnTo>
                  <a:pt x="1009015" y="85280"/>
                </a:lnTo>
                <a:lnTo>
                  <a:pt x="1009650" y="91668"/>
                </a:lnTo>
                <a:lnTo>
                  <a:pt x="1009650" y="98107"/>
                </a:lnTo>
                <a:lnTo>
                  <a:pt x="1009650" y="235267"/>
                </a:lnTo>
                <a:lnTo>
                  <a:pt x="1009650" y="241706"/>
                </a:lnTo>
                <a:lnTo>
                  <a:pt x="1009015" y="248081"/>
                </a:lnTo>
                <a:lnTo>
                  <a:pt x="1007770" y="254406"/>
                </a:lnTo>
                <a:lnTo>
                  <a:pt x="1006513" y="260718"/>
                </a:lnTo>
                <a:lnTo>
                  <a:pt x="1004646" y="266865"/>
                </a:lnTo>
                <a:lnTo>
                  <a:pt x="1002182" y="272808"/>
                </a:lnTo>
                <a:lnTo>
                  <a:pt x="999718" y="278765"/>
                </a:lnTo>
                <a:lnTo>
                  <a:pt x="996696" y="284416"/>
                </a:lnTo>
                <a:lnTo>
                  <a:pt x="993114" y="289763"/>
                </a:lnTo>
                <a:lnTo>
                  <a:pt x="989533" y="295122"/>
                </a:lnTo>
                <a:lnTo>
                  <a:pt x="985469" y="300088"/>
                </a:lnTo>
                <a:lnTo>
                  <a:pt x="980909" y="304634"/>
                </a:lnTo>
                <a:lnTo>
                  <a:pt x="976363" y="309194"/>
                </a:lnTo>
                <a:lnTo>
                  <a:pt x="949083" y="325907"/>
                </a:lnTo>
                <a:lnTo>
                  <a:pt x="943140" y="328371"/>
                </a:lnTo>
                <a:lnTo>
                  <a:pt x="936993" y="330225"/>
                </a:lnTo>
                <a:lnTo>
                  <a:pt x="930681" y="331495"/>
                </a:lnTo>
                <a:lnTo>
                  <a:pt x="924356" y="332740"/>
                </a:lnTo>
                <a:lnTo>
                  <a:pt x="917981" y="333375"/>
                </a:lnTo>
                <a:lnTo>
                  <a:pt x="911542" y="333375"/>
                </a:lnTo>
                <a:lnTo>
                  <a:pt x="98107" y="333375"/>
                </a:lnTo>
                <a:lnTo>
                  <a:pt x="91668" y="333375"/>
                </a:lnTo>
                <a:lnTo>
                  <a:pt x="85280" y="332740"/>
                </a:lnTo>
                <a:lnTo>
                  <a:pt x="48958" y="320421"/>
                </a:lnTo>
                <a:lnTo>
                  <a:pt x="28740" y="304634"/>
                </a:lnTo>
                <a:lnTo>
                  <a:pt x="24180" y="300088"/>
                </a:lnTo>
                <a:lnTo>
                  <a:pt x="7467" y="272808"/>
                </a:lnTo>
                <a:lnTo>
                  <a:pt x="5003" y="266865"/>
                </a:lnTo>
                <a:lnTo>
                  <a:pt x="3136" y="260718"/>
                </a:lnTo>
                <a:lnTo>
                  <a:pt x="1879" y="254406"/>
                </a:lnTo>
                <a:lnTo>
                  <a:pt x="635" y="248081"/>
                </a:lnTo>
                <a:lnTo>
                  <a:pt x="0" y="241706"/>
                </a:lnTo>
                <a:lnTo>
                  <a:pt x="0" y="235267"/>
                </a:lnTo>
                <a:close/>
              </a:path>
            </a:pathLst>
          </a:custGeom>
          <a:ln w="9525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62515" y="8454072"/>
            <a:ext cx="1628775" cy="323850"/>
          </a:xfrm>
          <a:custGeom>
            <a:avLst/>
            <a:gdLst/>
            <a:ahLst/>
            <a:cxnLst/>
            <a:rect l="l" t="t" r="r" b="b"/>
            <a:pathLst>
              <a:path w="1628775" h="323850">
                <a:moveTo>
                  <a:pt x="0" y="225742"/>
                </a:moveTo>
                <a:lnTo>
                  <a:pt x="0" y="98107"/>
                </a:lnTo>
                <a:lnTo>
                  <a:pt x="0" y="91668"/>
                </a:lnTo>
                <a:lnTo>
                  <a:pt x="635" y="85280"/>
                </a:lnTo>
                <a:lnTo>
                  <a:pt x="1879" y="78968"/>
                </a:lnTo>
                <a:lnTo>
                  <a:pt x="3136" y="72644"/>
                </a:lnTo>
                <a:lnTo>
                  <a:pt x="5003" y="66509"/>
                </a:lnTo>
                <a:lnTo>
                  <a:pt x="7467" y="60566"/>
                </a:lnTo>
                <a:lnTo>
                  <a:pt x="9931" y="54610"/>
                </a:lnTo>
                <a:lnTo>
                  <a:pt x="12954" y="48958"/>
                </a:lnTo>
                <a:lnTo>
                  <a:pt x="16535" y="43599"/>
                </a:lnTo>
                <a:lnTo>
                  <a:pt x="20116" y="38239"/>
                </a:lnTo>
                <a:lnTo>
                  <a:pt x="24180" y="33286"/>
                </a:lnTo>
                <a:lnTo>
                  <a:pt x="28740" y="28740"/>
                </a:lnTo>
                <a:lnTo>
                  <a:pt x="33286" y="24180"/>
                </a:lnTo>
                <a:lnTo>
                  <a:pt x="60566" y="7467"/>
                </a:lnTo>
                <a:lnTo>
                  <a:pt x="66522" y="5003"/>
                </a:lnTo>
                <a:lnTo>
                  <a:pt x="72644" y="3136"/>
                </a:lnTo>
                <a:lnTo>
                  <a:pt x="78968" y="1892"/>
                </a:lnTo>
                <a:lnTo>
                  <a:pt x="85280" y="622"/>
                </a:lnTo>
                <a:lnTo>
                  <a:pt x="91668" y="0"/>
                </a:lnTo>
                <a:lnTo>
                  <a:pt x="98107" y="0"/>
                </a:lnTo>
                <a:lnTo>
                  <a:pt x="1530667" y="0"/>
                </a:lnTo>
                <a:lnTo>
                  <a:pt x="1537106" y="0"/>
                </a:lnTo>
                <a:lnTo>
                  <a:pt x="1543481" y="622"/>
                </a:lnTo>
                <a:lnTo>
                  <a:pt x="1549806" y="1892"/>
                </a:lnTo>
                <a:lnTo>
                  <a:pt x="1556131" y="3136"/>
                </a:lnTo>
                <a:lnTo>
                  <a:pt x="1562265" y="5003"/>
                </a:lnTo>
                <a:lnTo>
                  <a:pt x="1568208" y="7467"/>
                </a:lnTo>
                <a:lnTo>
                  <a:pt x="1574165" y="9931"/>
                </a:lnTo>
                <a:lnTo>
                  <a:pt x="1600047" y="28740"/>
                </a:lnTo>
                <a:lnTo>
                  <a:pt x="1604594" y="33286"/>
                </a:lnTo>
                <a:lnTo>
                  <a:pt x="1608658" y="38239"/>
                </a:lnTo>
                <a:lnTo>
                  <a:pt x="1612239" y="43599"/>
                </a:lnTo>
                <a:lnTo>
                  <a:pt x="1615821" y="48958"/>
                </a:lnTo>
                <a:lnTo>
                  <a:pt x="1618843" y="54610"/>
                </a:lnTo>
                <a:lnTo>
                  <a:pt x="1621307" y="60566"/>
                </a:lnTo>
                <a:lnTo>
                  <a:pt x="1623771" y="66509"/>
                </a:lnTo>
                <a:lnTo>
                  <a:pt x="1625638" y="72644"/>
                </a:lnTo>
                <a:lnTo>
                  <a:pt x="1626895" y="78968"/>
                </a:lnTo>
                <a:lnTo>
                  <a:pt x="1628140" y="85280"/>
                </a:lnTo>
                <a:lnTo>
                  <a:pt x="1628775" y="91668"/>
                </a:lnTo>
                <a:lnTo>
                  <a:pt x="1628775" y="98107"/>
                </a:lnTo>
                <a:lnTo>
                  <a:pt x="1628775" y="225742"/>
                </a:lnTo>
                <a:lnTo>
                  <a:pt x="1628775" y="232181"/>
                </a:lnTo>
                <a:lnTo>
                  <a:pt x="1628140" y="238556"/>
                </a:lnTo>
                <a:lnTo>
                  <a:pt x="1626895" y="244881"/>
                </a:lnTo>
                <a:lnTo>
                  <a:pt x="1625638" y="251193"/>
                </a:lnTo>
                <a:lnTo>
                  <a:pt x="1623771" y="257340"/>
                </a:lnTo>
                <a:lnTo>
                  <a:pt x="1621307" y="263283"/>
                </a:lnTo>
                <a:lnTo>
                  <a:pt x="1618843" y="269240"/>
                </a:lnTo>
                <a:lnTo>
                  <a:pt x="1615821" y="274891"/>
                </a:lnTo>
                <a:lnTo>
                  <a:pt x="1612239" y="280238"/>
                </a:lnTo>
                <a:lnTo>
                  <a:pt x="1608658" y="285597"/>
                </a:lnTo>
                <a:lnTo>
                  <a:pt x="1604594" y="290563"/>
                </a:lnTo>
                <a:lnTo>
                  <a:pt x="1600047" y="295109"/>
                </a:lnTo>
                <a:lnTo>
                  <a:pt x="1595488" y="299669"/>
                </a:lnTo>
                <a:lnTo>
                  <a:pt x="1568208" y="316382"/>
                </a:lnTo>
                <a:lnTo>
                  <a:pt x="1562265" y="318846"/>
                </a:lnTo>
                <a:lnTo>
                  <a:pt x="1556131" y="320700"/>
                </a:lnTo>
                <a:lnTo>
                  <a:pt x="1549806" y="321970"/>
                </a:lnTo>
                <a:lnTo>
                  <a:pt x="1543481" y="323215"/>
                </a:lnTo>
                <a:lnTo>
                  <a:pt x="1537106" y="323850"/>
                </a:lnTo>
                <a:lnTo>
                  <a:pt x="1530667" y="323850"/>
                </a:lnTo>
                <a:lnTo>
                  <a:pt x="98107" y="323850"/>
                </a:lnTo>
                <a:lnTo>
                  <a:pt x="91668" y="323850"/>
                </a:lnTo>
                <a:lnTo>
                  <a:pt x="85280" y="323215"/>
                </a:lnTo>
                <a:lnTo>
                  <a:pt x="78968" y="321970"/>
                </a:lnTo>
                <a:lnTo>
                  <a:pt x="72644" y="320700"/>
                </a:lnTo>
                <a:lnTo>
                  <a:pt x="66522" y="318846"/>
                </a:lnTo>
                <a:lnTo>
                  <a:pt x="60566" y="316382"/>
                </a:lnTo>
                <a:lnTo>
                  <a:pt x="54610" y="313918"/>
                </a:lnTo>
                <a:lnTo>
                  <a:pt x="28740" y="295109"/>
                </a:lnTo>
                <a:lnTo>
                  <a:pt x="24180" y="290563"/>
                </a:lnTo>
                <a:lnTo>
                  <a:pt x="7467" y="263283"/>
                </a:lnTo>
                <a:lnTo>
                  <a:pt x="5003" y="257340"/>
                </a:lnTo>
                <a:lnTo>
                  <a:pt x="3136" y="251193"/>
                </a:lnTo>
                <a:lnTo>
                  <a:pt x="1879" y="244881"/>
                </a:lnTo>
                <a:lnTo>
                  <a:pt x="635" y="238556"/>
                </a:lnTo>
                <a:lnTo>
                  <a:pt x="0" y="232181"/>
                </a:lnTo>
                <a:lnTo>
                  <a:pt x="0" y="225742"/>
                </a:lnTo>
                <a:close/>
              </a:path>
            </a:pathLst>
          </a:custGeom>
          <a:ln w="9525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047897" y="8089900"/>
            <a:ext cx="103568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80" dirty="0">
                <a:solidFill>
                  <a:srgbClr val="545759"/>
                </a:solidFill>
                <a:latin typeface="Verdana"/>
                <a:cs typeface="Verdana"/>
              </a:rPr>
              <a:t>ASP.NET</a:t>
            </a:r>
            <a:r>
              <a:rPr sz="10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050" spc="-40" dirty="0">
                <a:solidFill>
                  <a:srgbClr val="545759"/>
                </a:solidFill>
                <a:latin typeface="Verdana"/>
                <a:cs typeface="Verdana"/>
              </a:rPr>
              <a:t>CORE</a:t>
            </a:r>
            <a:r>
              <a:rPr sz="1050" spc="-12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050" spc="-50" dirty="0">
                <a:solidFill>
                  <a:srgbClr val="545759"/>
                </a:solidFill>
                <a:latin typeface="Verdana"/>
                <a:cs typeface="Verdana"/>
              </a:rPr>
              <a:t>8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58918" y="8089900"/>
            <a:ext cx="561975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65" dirty="0">
                <a:solidFill>
                  <a:srgbClr val="FF6F46"/>
                </a:solidFill>
                <a:latin typeface="Verdana"/>
                <a:cs typeface="Verdana"/>
              </a:rPr>
              <a:t>EF</a:t>
            </a:r>
            <a:r>
              <a:rPr sz="1050" spc="-145" dirty="0">
                <a:solidFill>
                  <a:srgbClr val="FF6F46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FF6F46"/>
                </a:solidFill>
                <a:latin typeface="Verdana"/>
                <a:cs typeface="Verdana"/>
              </a:rPr>
              <a:t>CORE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05749" y="8089900"/>
            <a:ext cx="79629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60" dirty="0">
                <a:solidFill>
                  <a:srgbClr val="FF6F46"/>
                </a:solidFill>
                <a:latin typeface="Verdana"/>
                <a:cs typeface="Verdana"/>
              </a:rPr>
              <a:t>SQL</a:t>
            </a:r>
            <a:r>
              <a:rPr sz="1050" spc="-185" dirty="0">
                <a:solidFill>
                  <a:srgbClr val="FF6F46"/>
                </a:solidFill>
                <a:latin typeface="Verdana"/>
                <a:cs typeface="Verdana"/>
              </a:rPr>
              <a:t> </a:t>
            </a:r>
            <a:r>
              <a:rPr sz="1050" spc="-45" dirty="0">
                <a:solidFill>
                  <a:srgbClr val="FF6F46"/>
                </a:solidFill>
                <a:latin typeface="Verdana"/>
                <a:cs typeface="Verdana"/>
              </a:rPr>
              <a:t>SERVER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86837" y="8089900"/>
            <a:ext cx="823594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75" dirty="0">
                <a:solidFill>
                  <a:srgbClr val="FF6F46"/>
                </a:solidFill>
                <a:latin typeface="Verdana"/>
                <a:cs typeface="Verdana"/>
              </a:rPr>
              <a:t>SWAGGER</a:t>
            </a:r>
            <a:r>
              <a:rPr sz="1050" spc="-105" dirty="0">
                <a:solidFill>
                  <a:srgbClr val="FF6F46"/>
                </a:solidFill>
                <a:latin typeface="Verdana"/>
                <a:cs typeface="Verdana"/>
              </a:rPr>
              <a:t> </a:t>
            </a:r>
            <a:r>
              <a:rPr sz="1050" spc="-50" dirty="0">
                <a:solidFill>
                  <a:srgbClr val="FF6F46"/>
                </a:solidFill>
                <a:latin typeface="Verdana"/>
                <a:cs typeface="Verdana"/>
              </a:rPr>
              <a:t>UI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57422" y="8518525"/>
            <a:ext cx="143764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spc="-65" dirty="0">
                <a:solidFill>
                  <a:srgbClr val="FF6F46"/>
                </a:solidFill>
                <a:latin typeface="Verdana"/>
                <a:cs typeface="Verdana"/>
              </a:rPr>
              <a:t>REPOSITORY</a:t>
            </a:r>
            <a:r>
              <a:rPr sz="1050" spc="-145" dirty="0">
                <a:solidFill>
                  <a:srgbClr val="FF6F46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FF6F46"/>
                </a:solidFill>
                <a:latin typeface="Verdana"/>
                <a:cs typeface="Verdana"/>
              </a:rPr>
              <a:t>PATTERN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09991-4604-2748-6388-CFAEEFF1BBBD}"/>
              </a:ext>
            </a:extLst>
          </p:cNvPr>
          <p:cNvSpPr txBox="1"/>
          <p:nvPr/>
        </p:nvSpPr>
        <p:spPr>
          <a:xfrm>
            <a:off x="8667286" y="9537700"/>
            <a:ext cx="53622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Group 6-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Aditya Bharadwaj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Shivansh Agrawal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Chitresh Malhan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Jasnoor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Himanshu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4025" y="2294635"/>
            <a:ext cx="4286250" cy="725779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87375" y="824809"/>
            <a:ext cx="908367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Project</a:t>
            </a:r>
            <a:r>
              <a:rPr spc="-180" dirty="0"/>
              <a:t> </a:t>
            </a:r>
            <a:r>
              <a:rPr spc="-70" dirty="0"/>
              <a:t>Overview</a:t>
            </a:r>
          </a:p>
        </p:txBody>
      </p:sp>
      <p:sp>
        <p:nvSpPr>
          <p:cNvPr id="6" name="object 6"/>
          <p:cNvSpPr/>
          <p:nvPr/>
        </p:nvSpPr>
        <p:spPr>
          <a:xfrm>
            <a:off x="587375" y="2294635"/>
            <a:ext cx="5962650" cy="1572260"/>
          </a:xfrm>
          <a:custGeom>
            <a:avLst/>
            <a:gdLst/>
            <a:ahLst/>
            <a:cxnLst/>
            <a:rect l="l" t="t" r="r" b="b"/>
            <a:pathLst>
              <a:path w="5962650" h="1572260">
                <a:moveTo>
                  <a:pt x="5962637" y="128600"/>
                </a:moveTo>
                <a:lnTo>
                  <a:pt x="5952845" y="79387"/>
                </a:lnTo>
                <a:lnTo>
                  <a:pt x="5943587" y="61493"/>
                </a:lnTo>
                <a:lnTo>
                  <a:pt x="5943587" y="128600"/>
                </a:lnTo>
                <a:lnTo>
                  <a:pt x="5943587" y="1443050"/>
                </a:lnTo>
                <a:lnTo>
                  <a:pt x="5935243" y="1484960"/>
                </a:lnTo>
                <a:lnTo>
                  <a:pt x="5911964" y="1519999"/>
                </a:lnTo>
                <a:lnTo>
                  <a:pt x="5911507" y="1520507"/>
                </a:lnTo>
                <a:lnTo>
                  <a:pt x="5875960" y="1544243"/>
                </a:lnTo>
                <a:lnTo>
                  <a:pt x="5834050" y="1552587"/>
                </a:lnTo>
                <a:lnTo>
                  <a:pt x="95237" y="1552587"/>
                </a:lnTo>
                <a:lnTo>
                  <a:pt x="87731" y="1552308"/>
                </a:lnTo>
                <a:lnTo>
                  <a:pt x="80378" y="1551495"/>
                </a:lnTo>
                <a:lnTo>
                  <a:pt x="76200" y="1550720"/>
                </a:lnTo>
                <a:lnTo>
                  <a:pt x="76200" y="20929"/>
                </a:lnTo>
                <a:lnTo>
                  <a:pt x="80378" y="20142"/>
                </a:lnTo>
                <a:lnTo>
                  <a:pt x="87731" y="19329"/>
                </a:lnTo>
                <a:lnTo>
                  <a:pt x="95237" y="19062"/>
                </a:lnTo>
                <a:lnTo>
                  <a:pt x="5834050" y="19062"/>
                </a:lnTo>
                <a:lnTo>
                  <a:pt x="5875960" y="27406"/>
                </a:lnTo>
                <a:lnTo>
                  <a:pt x="5911507" y="51142"/>
                </a:lnTo>
                <a:lnTo>
                  <a:pt x="5935243" y="86677"/>
                </a:lnTo>
                <a:lnTo>
                  <a:pt x="5943587" y="128600"/>
                </a:lnTo>
                <a:lnTo>
                  <a:pt x="5943587" y="61493"/>
                </a:lnTo>
                <a:lnTo>
                  <a:pt x="5940984" y="57137"/>
                </a:lnTo>
                <a:lnTo>
                  <a:pt x="5933503" y="47066"/>
                </a:lnTo>
                <a:lnTo>
                  <a:pt x="5925426" y="38176"/>
                </a:lnTo>
                <a:lnTo>
                  <a:pt x="5924982" y="37680"/>
                </a:lnTo>
                <a:lnTo>
                  <a:pt x="5915584" y="29146"/>
                </a:lnTo>
                <a:lnTo>
                  <a:pt x="5905512" y="21653"/>
                </a:lnTo>
                <a:lnTo>
                  <a:pt x="5901169" y="19062"/>
                </a:lnTo>
                <a:lnTo>
                  <a:pt x="5894730" y="15201"/>
                </a:lnTo>
                <a:lnTo>
                  <a:pt x="5846724" y="622"/>
                </a:lnTo>
                <a:lnTo>
                  <a:pt x="5834050" y="12"/>
                </a:lnTo>
                <a:lnTo>
                  <a:pt x="95237" y="12"/>
                </a:lnTo>
                <a:lnTo>
                  <a:pt x="87731" y="368"/>
                </a:lnTo>
                <a:lnTo>
                  <a:pt x="80378" y="1460"/>
                </a:lnTo>
                <a:lnTo>
                  <a:pt x="76200" y="2514"/>
                </a:lnTo>
                <a:lnTo>
                  <a:pt x="76200" y="0"/>
                </a:lnTo>
                <a:lnTo>
                  <a:pt x="71183" y="0"/>
                </a:lnTo>
                <a:lnTo>
                  <a:pt x="66243" y="482"/>
                </a:lnTo>
                <a:lnTo>
                  <a:pt x="29705" y="15633"/>
                </a:lnTo>
                <a:lnTo>
                  <a:pt x="3873" y="51663"/>
                </a:lnTo>
                <a:lnTo>
                  <a:pt x="0" y="71196"/>
                </a:lnTo>
                <a:lnTo>
                  <a:pt x="0" y="1495425"/>
                </a:lnTo>
                <a:lnTo>
                  <a:pt x="0" y="1500428"/>
                </a:lnTo>
                <a:lnTo>
                  <a:pt x="15621" y="1541919"/>
                </a:lnTo>
                <a:lnTo>
                  <a:pt x="51663" y="1567738"/>
                </a:lnTo>
                <a:lnTo>
                  <a:pt x="71183" y="1571625"/>
                </a:lnTo>
                <a:lnTo>
                  <a:pt x="76200" y="1571625"/>
                </a:lnTo>
                <a:lnTo>
                  <a:pt x="76200" y="1569135"/>
                </a:lnTo>
                <a:lnTo>
                  <a:pt x="80378" y="1570177"/>
                </a:lnTo>
                <a:lnTo>
                  <a:pt x="87731" y="1571269"/>
                </a:lnTo>
                <a:lnTo>
                  <a:pt x="95237" y="1571637"/>
                </a:lnTo>
                <a:lnTo>
                  <a:pt x="5834050" y="1571637"/>
                </a:lnTo>
                <a:lnTo>
                  <a:pt x="5883262" y="1561846"/>
                </a:lnTo>
                <a:lnTo>
                  <a:pt x="5924969" y="1533969"/>
                </a:lnTo>
                <a:lnTo>
                  <a:pt x="5925426" y="1533461"/>
                </a:lnTo>
                <a:lnTo>
                  <a:pt x="5933491" y="1524596"/>
                </a:lnTo>
                <a:lnTo>
                  <a:pt x="5957138" y="1480312"/>
                </a:lnTo>
                <a:lnTo>
                  <a:pt x="5962637" y="1443050"/>
                </a:lnTo>
                <a:lnTo>
                  <a:pt x="5962637" y="12860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1375" y="2467673"/>
            <a:ext cx="5327015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650" spc="-1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Problem</a:t>
            </a:r>
            <a:endParaRPr sz="1650">
              <a:latin typeface="Verdana"/>
              <a:cs typeface="Verdana"/>
            </a:endParaRPr>
          </a:p>
          <a:p>
            <a:pPr marL="12700" marR="5080" algn="just">
              <a:lnSpc>
                <a:spcPct val="131900"/>
              </a:lnSpc>
              <a:spcBef>
                <a:spcPts val="655"/>
              </a:spcBef>
            </a:pP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Manual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operations</a:t>
            </a:r>
            <a:r>
              <a:rPr sz="1350" spc="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40" dirty="0">
                <a:solidFill>
                  <a:srgbClr val="545759"/>
                </a:solidFill>
                <a:latin typeface="Verdana"/>
                <a:cs typeface="Verdana"/>
              </a:rPr>
              <a:t>are</a:t>
            </a:r>
            <a:r>
              <a:rPr sz="1350" spc="2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error-</a:t>
            </a:r>
            <a:r>
              <a:rPr sz="1350" spc="-105" dirty="0">
                <a:solidFill>
                  <a:srgbClr val="545759"/>
                </a:solidFill>
                <a:latin typeface="Verdana"/>
                <a:cs typeface="Verdana"/>
              </a:rPr>
              <a:t>prone,</a:t>
            </a:r>
            <a:r>
              <a:rPr sz="1350" spc="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30" dirty="0">
                <a:solidFill>
                  <a:srgbClr val="545759"/>
                </a:solidFill>
                <a:latin typeface="Verdana"/>
                <a:cs typeface="Verdana"/>
              </a:rPr>
              <a:t>slow,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difficult</a:t>
            </a:r>
            <a:r>
              <a:rPr sz="13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scale.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Fragmented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systems</a:t>
            </a:r>
            <a:r>
              <a:rPr sz="1350" spc="1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545759"/>
                </a:solidFill>
                <a:latin typeface="Verdana"/>
                <a:cs typeface="Verdana"/>
              </a:rPr>
              <a:t>rooms,</a:t>
            </a:r>
            <a:r>
              <a:rPr sz="1350" spc="1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reservations,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25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1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payments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create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r>
              <a:rPr sz="1350" spc="-1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silos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poor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guest</a:t>
            </a:r>
            <a:r>
              <a:rPr sz="1350" spc="-1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experiences.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7375" y="4813300"/>
            <a:ext cx="5962650" cy="1572260"/>
          </a:xfrm>
          <a:custGeom>
            <a:avLst/>
            <a:gdLst/>
            <a:ahLst/>
            <a:cxnLst/>
            <a:rect l="l" t="t" r="r" b="b"/>
            <a:pathLst>
              <a:path w="5962650" h="1572260">
                <a:moveTo>
                  <a:pt x="5962637" y="128600"/>
                </a:moveTo>
                <a:lnTo>
                  <a:pt x="5952845" y="79387"/>
                </a:lnTo>
                <a:lnTo>
                  <a:pt x="5943587" y="61493"/>
                </a:lnTo>
                <a:lnTo>
                  <a:pt x="5943587" y="128600"/>
                </a:lnTo>
                <a:lnTo>
                  <a:pt x="5943587" y="1443050"/>
                </a:lnTo>
                <a:lnTo>
                  <a:pt x="5935243" y="1484960"/>
                </a:lnTo>
                <a:lnTo>
                  <a:pt x="5911964" y="1519999"/>
                </a:lnTo>
                <a:lnTo>
                  <a:pt x="5911507" y="1520507"/>
                </a:lnTo>
                <a:lnTo>
                  <a:pt x="5875960" y="1544243"/>
                </a:lnTo>
                <a:lnTo>
                  <a:pt x="5834050" y="1552587"/>
                </a:lnTo>
                <a:lnTo>
                  <a:pt x="95237" y="1552587"/>
                </a:lnTo>
                <a:lnTo>
                  <a:pt x="87731" y="1552308"/>
                </a:lnTo>
                <a:lnTo>
                  <a:pt x="80378" y="1551495"/>
                </a:lnTo>
                <a:lnTo>
                  <a:pt x="76200" y="1550720"/>
                </a:lnTo>
                <a:lnTo>
                  <a:pt x="76200" y="20929"/>
                </a:lnTo>
                <a:lnTo>
                  <a:pt x="80378" y="20142"/>
                </a:lnTo>
                <a:lnTo>
                  <a:pt x="87731" y="19329"/>
                </a:lnTo>
                <a:lnTo>
                  <a:pt x="95237" y="19062"/>
                </a:lnTo>
                <a:lnTo>
                  <a:pt x="5834050" y="19062"/>
                </a:lnTo>
                <a:lnTo>
                  <a:pt x="5875960" y="27406"/>
                </a:lnTo>
                <a:lnTo>
                  <a:pt x="5911507" y="51142"/>
                </a:lnTo>
                <a:lnTo>
                  <a:pt x="5935243" y="86677"/>
                </a:lnTo>
                <a:lnTo>
                  <a:pt x="5943587" y="128600"/>
                </a:lnTo>
                <a:lnTo>
                  <a:pt x="5943587" y="61493"/>
                </a:lnTo>
                <a:lnTo>
                  <a:pt x="5940984" y="57137"/>
                </a:lnTo>
                <a:lnTo>
                  <a:pt x="5933503" y="47066"/>
                </a:lnTo>
                <a:lnTo>
                  <a:pt x="5925426" y="38176"/>
                </a:lnTo>
                <a:lnTo>
                  <a:pt x="5924982" y="37680"/>
                </a:lnTo>
                <a:lnTo>
                  <a:pt x="5915584" y="29146"/>
                </a:lnTo>
                <a:lnTo>
                  <a:pt x="5905512" y="21653"/>
                </a:lnTo>
                <a:lnTo>
                  <a:pt x="5901169" y="19062"/>
                </a:lnTo>
                <a:lnTo>
                  <a:pt x="5894730" y="15201"/>
                </a:lnTo>
                <a:lnTo>
                  <a:pt x="5846724" y="622"/>
                </a:lnTo>
                <a:lnTo>
                  <a:pt x="5834050" y="12"/>
                </a:lnTo>
                <a:lnTo>
                  <a:pt x="95237" y="12"/>
                </a:lnTo>
                <a:lnTo>
                  <a:pt x="87731" y="368"/>
                </a:lnTo>
                <a:lnTo>
                  <a:pt x="80378" y="1460"/>
                </a:lnTo>
                <a:lnTo>
                  <a:pt x="76200" y="2514"/>
                </a:lnTo>
                <a:lnTo>
                  <a:pt x="76200" y="0"/>
                </a:lnTo>
                <a:lnTo>
                  <a:pt x="71183" y="0"/>
                </a:lnTo>
                <a:lnTo>
                  <a:pt x="66243" y="482"/>
                </a:lnTo>
                <a:lnTo>
                  <a:pt x="29705" y="15621"/>
                </a:lnTo>
                <a:lnTo>
                  <a:pt x="3873" y="51663"/>
                </a:lnTo>
                <a:lnTo>
                  <a:pt x="0" y="71196"/>
                </a:lnTo>
                <a:lnTo>
                  <a:pt x="0" y="1495437"/>
                </a:lnTo>
                <a:lnTo>
                  <a:pt x="0" y="1500428"/>
                </a:lnTo>
                <a:lnTo>
                  <a:pt x="15621" y="1541919"/>
                </a:lnTo>
                <a:lnTo>
                  <a:pt x="51663" y="1567738"/>
                </a:lnTo>
                <a:lnTo>
                  <a:pt x="71183" y="1571637"/>
                </a:lnTo>
                <a:lnTo>
                  <a:pt x="76200" y="1571637"/>
                </a:lnTo>
                <a:lnTo>
                  <a:pt x="76200" y="1569135"/>
                </a:lnTo>
                <a:lnTo>
                  <a:pt x="80378" y="1570177"/>
                </a:lnTo>
                <a:lnTo>
                  <a:pt x="87731" y="1571269"/>
                </a:lnTo>
                <a:lnTo>
                  <a:pt x="95237" y="1571637"/>
                </a:lnTo>
                <a:lnTo>
                  <a:pt x="5834050" y="1571637"/>
                </a:lnTo>
                <a:lnTo>
                  <a:pt x="5883262" y="1561846"/>
                </a:lnTo>
                <a:lnTo>
                  <a:pt x="5924969" y="1533969"/>
                </a:lnTo>
                <a:lnTo>
                  <a:pt x="5925426" y="1533461"/>
                </a:lnTo>
                <a:lnTo>
                  <a:pt x="5933491" y="1524596"/>
                </a:lnTo>
                <a:lnTo>
                  <a:pt x="5957138" y="1480312"/>
                </a:lnTo>
                <a:lnTo>
                  <a:pt x="5962637" y="1443050"/>
                </a:lnTo>
                <a:lnTo>
                  <a:pt x="5962637" y="12860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1375" y="4986338"/>
            <a:ext cx="5322570" cy="11887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650" spc="-1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Solution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615"/>
              </a:spcBef>
            </a:pP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centralized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REST</a:t>
            </a:r>
            <a:r>
              <a:rPr sz="1350" spc="-2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545759"/>
                </a:solidFill>
                <a:latin typeface="Verdana"/>
                <a:cs typeface="Verdana"/>
              </a:rPr>
              <a:t>API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that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automates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management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0" dirty="0">
                <a:solidFill>
                  <a:srgbClr val="545759"/>
                </a:solidFill>
                <a:latin typeface="Verdana"/>
                <a:cs typeface="Verdana"/>
              </a:rPr>
              <a:t>—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from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room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inventory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amenities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reservations,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payments,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guest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reviews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0" dirty="0">
                <a:solidFill>
                  <a:srgbClr val="545759"/>
                </a:solidFill>
                <a:latin typeface="Verdana"/>
                <a:cs typeface="Verdana"/>
              </a:rPr>
              <a:t>—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clean,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layered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architecture.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7375" y="7673720"/>
            <a:ext cx="5962650" cy="2028825"/>
            <a:chOff x="581025" y="4752974"/>
            <a:chExt cx="5962650" cy="2028825"/>
          </a:xfrm>
        </p:grpSpPr>
        <p:sp>
          <p:nvSpPr>
            <p:cNvPr id="11" name="object 11"/>
            <p:cNvSpPr/>
            <p:nvPr/>
          </p:nvSpPr>
          <p:spPr>
            <a:xfrm>
              <a:off x="581025" y="4752974"/>
              <a:ext cx="5962650" cy="2029460"/>
            </a:xfrm>
            <a:custGeom>
              <a:avLst/>
              <a:gdLst/>
              <a:ahLst/>
              <a:cxnLst/>
              <a:rect l="l" t="t" r="r" b="b"/>
              <a:pathLst>
                <a:path w="5962650" h="2029459">
                  <a:moveTo>
                    <a:pt x="5962637" y="128600"/>
                  </a:moveTo>
                  <a:lnTo>
                    <a:pt x="5952845" y="79387"/>
                  </a:lnTo>
                  <a:lnTo>
                    <a:pt x="5943587" y="61493"/>
                  </a:lnTo>
                  <a:lnTo>
                    <a:pt x="5943587" y="128600"/>
                  </a:lnTo>
                  <a:lnTo>
                    <a:pt x="5943587" y="1900250"/>
                  </a:lnTo>
                  <a:lnTo>
                    <a:pt x="5935243" y="1942160"/>
                  </a:lnTo>
                  <a:lnTo>
                    <a:pt x="5911964" y="1977199"/>
                  </a:lnTo>
                  <a:lnTo>
                    <a:pt x="5875960" y="2001443"/>
                  </a:lnTo>
                  <a:lnTo>
                    <a:pt x="5834050" y="2009787"/>
                  </a:lnTo>
                  <a:lnTo>
                    <a:pt x="95237" y="2009787"/>
                  </a:lnTo>
                  <a:lnTo>
                    <a:pt x="87731" y="2009508"/>
                  </a:lnTo>
                  <a:lnTo>
                    <a:pt x="80378" y="2008695"/>
                  </a:lnTo>
                  <a:lnTo>
                    <a:pt x="76200" y="2007920"/>
                  </a:lnTo>
                  <a:lnTo>
                    <a:pt x="76200" y="20929"/>
                  </a:lnTo>
                  <a:lnTo>
                    <a:pt x="80378" y="20142"/>
                  </a:lnTo>
                  <a:lnTo>
                    <a:pt x="87731" y="19329"/>
                  </a:lnTo>
                  <a:lnTo>
                    <a:pt x="95237" y="19062"/>
                  </a:lnTo>
                  <a:lnTo>
                    <a:pt x="5834050" y="19062"/>
                  </a:lnTo>
                  <a:lnTo>
                    <a:pt x="5875960" y="27393"/>
                  </a:lnTo>
                  <a:lnTo>
                    <a:pt x="5911507" y="51142"/>
                  </a:lnTo>
                  <a:lnTo>
                    <a:pt x="5935243" y="86677"/>
                  </a:lnTo>
                  <a:lnTo>
                    <a:pt x="5943587" y="128600"/>
                  </a:lnTo>
                  <a:lnTo>
                    <a:pt x="5943587" y="61493"/>
                  </a:lnTo>
                  <a:lnTo>
                    <a:pt x="5940984" y="57137"/>
                  </a:lnTo>
                  <a:lnTo>
                    <a:pt x="5933503" y="47066"/>
                  </a:lnTo>
                  <a:lnTo>
                    <a:pt x="5925426" y="38176"/>
                  </a:lnTo>
                  <a:lnTo>
                    <a:pt x="5924982" y="37680"/>
                  </a:lnTo>
                  <a:lnTo>
                    <a:pt x="5915584" y="29146"/>
                  </a:lnTo>
                  <a:lnTo>
                    <a:pt x="5905512" y="21653"/>
                  </a:lnTo>
                  <a:lnTo>
                    <a:pt x="5901169" y="19062"/>
                  </a:lnTo>
                  <a:lnTo>
                    <a:pt x="5894730" y="15201"/>
                  </a:lnTo>
                  <a:lnTo>
                    <a:pt x="5846724" y="622"/>
                  </a:lnTo>
                  <a:lnTo>
                    <a:pt x="5834050" y="12"/>
                  </a:lnTo>
                  <a:lnTo>
                    <a:pt x="95237" y="12"/>
                  </a:lnTo>
                  <a:lnTo>
                    <a:pt x="87731" y="368"/>
                  </a:lnTo>
                  <a:lnTo>
                    <a:pt x="80378" y="1460"/>
                  </a:lnTo>
                  <a:lnTo>
                    <a:pt x="76200" y="2514"/>
                  </a:lnTo>
                  <a:lnTo>
                    <a:pt x="76200" y="0"/>
                  </a:lnTo>
                  <a:lnTo>
                    <a:pt x="71183" y="0"/>
                  </a:lnTo>
                  <a:lnTo>
                    <a:pt x="66243" y="482"/>
                  </a:lnTo>
                  <a:lnTo>
                    <a:pt x="29705" y="15621"/>
                  </a:lnTo>
                  <a:lnTo>
                    <a:pt x="3873" y="51663"/>
                  </a:lnTo>
                  <a:lnTo>
                    <a:pt x="0" y="71196"/>
                  </a:lnTo>
                  <a:lnTo>
                    <a:pt x="0" y="1952637"/>
                  </a:lnTo>
                  <a:lnTo>
                    <a:pt x="0" y="1957628"/>
                  </a:lnTo>
                  <a:lnTo>
                    <a:pt x="15621" y="1999119"/>
                  </a:lnTo>
                  <a:lnTo>
                    <a:pt x="51663" y="2024938"/>
                  </a:lnTo>
                  <a:lnTo>
                    <a:pt x="71183" y="2028837"/>
                  </a:lnTo>
                  <a:lnTo>
                    <a:pt x="76200" y="2028837"/>
                  </a:lnTo>
                  <a:lnTo>
                    <a:pt x="76200" y="2026335"/>
                  </a:lnTo>
                  <a:lnTo>
                    <a:pt x="80378" y="2027377"/>
                  </a:lnTo>
                  <a:lnTo>
                    <a:pt x="87731" y="2028469"/>
                  </a:lnTo>
                  <a:lnTo>
                    <a:pt x="95237" y="2028837"/>
                  </a:lnTo>
                  <a:lnTo>
                    <a:pt x="5834050" y="2028837"/>
                  </a:lnTo>
                  <a:lnTo>
                    <a:pt x="5883262" y="2019046"/>
                  </a:lnTo>
                  <a:lnTo>
                    <a:pt x="5924969" y="1991169"/>
                  </a:lnTo>
                  <a:lnTo>
                    <a:pt x="5952845" y="1949450"/>
                  </a:lnTo>
                  <a:lnTo>
                    <a:pt x="5962637" y="1900250"/>
                  </a:lnTo>
                  <a:lnTo>
                    <a:pt x="5962637" y="128600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6300" y="5429249"/>
              <a:ext cx="57150" cy="1067435"/>
            </a:xfrm>
            <a:custGeom>
              <a:avLst/>
              <a:gdLst/>
              <a:ahLst/>
              <a:cxnLst/>
              <a:rect l="l" t="t" r="r" b="b"/>
              <a:pathLst>
                <a:path w="57150" h="1067435">
                  <a:moveTo>
                    <a:pt x="57150" y="1034440"/>
                  </a:moveTo>
                  <a:lnTo>
                    <a:pt x="32359" y="1009662"/>
                  </a:lnTo>
                  <a:lnTo>
                    <a:pt x="24777" y="1009662"/>
                  </a:lnTo>
                  <a:lnTo>
                    <a:pt x="0" y="1034440"/>
                  </a:lnTo>
                  <a:lnTo>
                    <a:pt x="0" y="1042022"/>
                  </a:lnTo>
                  <a:lnTo>
                    <a:pt x="24777" y="1066812"/>
                  </a:lnTo>
                  <a:lnTo>
                    <a:pt x="32359" y="1066812"/>
                  </a:lnTo>
                  <a:lnTo>
                    <a:pt x="57150" y="1042022"/>
                  </a:lnTo>
                  <a:lnTo>
                    <a:pt x="57150" y="1038237"/>
                  </a:lnTo>
                  <a:lnTo>
                    <a:pt x="57150" y="1034440"/>
                  </a:lnTo>
                  <a:close/>
                </a:path>
                <a:path w="57150" h="1067435">
                  <a:moveTo>
                    <a:pt x="57150" y="701065"/>
                  </a:moveTo>
                  <a:lnTo>
                    <a:pt x="32359" y="676287"/>
                  </a:lnTo>
                  <a:lnTo>
                    <a:pt x="24777" y="676287"/>
                  </a:lnTo>
                  <a:lnTo>
                    <a:pt x="0" y="701065"/>
                  </a:lnTo>
                  <a:lnTo>
                    <a:pt x="0" y="708647"/>
                  </a:lnTo>
                  <a:lnTo>
                    <a:pt x="24777" y="733437"/>
                  </a:lnTo>
                  <a:lnTo>
                    <a:pt x="32359" y="733437"/>
                  </a:lnTo>
                  <a:lnTo>
                    <a:pt x="57150" y="708647"/>
                  </a:lnTo>
                  <a:lnTo>
                    <a:pt x="57150" y="704862"/>
                  </a:lnTo>
                  <a:lnTo>
                    <a:pt x="57150" y="701065"/>
                  </a:lnTo>
                  <a:close/>
                </a:path>
                <a:path w="57150" h="1067435">
                  <a:moveTo>
                    <a:pt x="57150" y="358165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067435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5457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41375" y="7846758"/>
            <a:ext cx="4318000" cy="16459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Core</a:t>
            </a:r>
            <a:r>
              <a:rPr sz="1650" spc="-1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Objectives</a:t>
            </a:r>
            <a:endParaRPr sz="1650" dirty="0">
              <a:latin typeface="Verdana"/>
              <a:cs typeface="Verdana"/>
            </a:endParaRPr>
          </a:p>
          <a:p>
            <a:pPr marL="286385" marR="5080">
              <a:lnSpc>
                <a:spcPct val="163600"/>
              </a:lnSpc>
              <a:spcBef>
                <a:spcPts val="140"/>
              </a:spcBef>
            </a:pP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Full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CRUD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operations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across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all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entities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Search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filter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capabilities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hotels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rooms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Structured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validation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consistent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error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handling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Swagger-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based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545759"/>
                </a:solidFill>
                <a:latin typeface="Verdana"/>
                <a:cs typeface="Verdana"/>
              </a:rPr>
              <a:t>API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documentation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testing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08379" y="1767712"/>
            <a:ext cx="36506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Technology</a:t>
            </a:r>
            <a:r>
              <a:rPr spc="-135" dirty="0"/>
              <a:t> </a:t>
            </a:r>
            <a:r>
              <a:rPr spc="-45" dirty="0"/>
              <a:t>Stack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351212"/>
            <a:ext cx="4905374" cy="490537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244411" y="6061346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24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06491" y="4356100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24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06491" y="7327900"/>
            <a:ext cx="258445" cy="222250"/>
          </a:xfrm>
          <a:custGeom>
            <a:avLst/>
            <a:gdLst/>
            <a:ahLst/>
            <a:cxnLst/>
            <a:rect l="l" t="t" r="r" b="b"/>
            <a:pathLst>
              <a:path w="258445" h="222250">
                <a:moveTo>
                  <a:pt x="149898" y="0"/>
                </a:moveTo>
                <a:lnTo>
                  <a:pt x="144043" y="0"/>
                </a:lnTo>
                <a:lnTo>
                  <a:pt x="136931" y="7124"/>
                </a:lnTo>
                <a:lnTo>
                  <a:pt x="136931" y="12979"/>
                </a:lnTo>
                <a:lnTo>
                  <a:pt x="225856" y="101904"/>
                </a:lnTo>
                <a:lnTo>
                  <a:pt x="4127" y="101904"/>
                </a:lnTo>
                <a:lnTo>
                  <a:pt x="0" y="106045"/>
                </a:lnTo>
                <a:lnTo>
                  <a:pt x="0" y="116141"/>
                </a:lnTo>
                <a:lnTo>
                  <a:pt x="4127" y="120281"/>
                </a:lnTo>
                <a:lnTo>
                  <a:pt x="225856" y="120281"/>
                </a:lnTo>
                <a:lnTo>
                  <a:pt x="136931" y="209207"/>
                </a:lnTo>
                <a:lnTo>
                  <a:pt x="136931" y="215061"/>
                </a:lnTo>
                <a:lnTo>
                  <a:pt x="144043" y="222186"/>
                </a:lnTo>
                <a:lnTo>
                  <a:pt x="149898" y="222186"/>
                </a:lnTo>
                <a:lnTo>
                  <a:pt x="258064" y="114020"/>
                </a:lnTo>
                <a:lnTo>
                  <a:pt x="258064" y="108165"/>
                </a:lnTo>
                <a:lnTo>
                  <a:pt x="149898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6206491" y="3871549"/>
            <a:ext cx="4842509" cy="4379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Key</a:t>
            </a:r>
            <a:r>
              <a:rPr spc="-95" dirty="0"/>
              <a:t> </a:t>
            </a:r>
            <a:r>
              <a:rPr spc="-30" dirty="0"/>
              <a:t>Design</a:t>
            </a:r>
            <a:r>
              <a:rPr spc="-90" dirty="0"/>
              <a:t> </a:t>
            </a:r>
            <a:r>
              <a:rPr spc="-10" dirty="0"/>
              <a:t>Decisions</a:t>
            </a:r>
          </a:p>
          <a:p>
            <a:pPr marL="569595">
              <a:lnSpc>
                <a:spcPct val="100000"/>
              </a:lnSpc>
              <a:spcBef>
                <a:spcPts val="1695"/>
              </a:spcBef>
            </a:pPr>
            <a:r>
              <a:rPr spc="-55" dirty="0">
                <a:solidFill>
                  <a:srgbClr val="545759"/>
                </a:solidFill>
              </a:rPr>
              <a:t>DB</a:t>
            </a:r>
            <a:r>
              <a:rPr spc="-105" dirty="0">
                <a:solidFill>
                  <a:srgbClr val="545759"/>
                </a:solidFill>
              </a:rPr>
              <a:t> </a:t>
            </a:r>
            <a:r>
              <a:rPr spc="-35" dirty="0">
                <a:solidFill>
                  <a:srgbClr val="545759"/>
                </a:solidFill>
              </a:rPr>
              <a:t>First</a:t>
            </a:r>
            <a:r>
              <a:rPr spc="-100" dirty="0">
                <a:solidFill>
                  <a:srgbClr val="545759"/>
                </a:solidFill>
              </a:rPr>
              <a:t> </a:t>
            </a:r>
            <a:r>
              <a:rPr spc="-10" dirty="0">
                <a:solidFill>
                  <a:srgbClr val="545759"/>
                </a:solidFill>
              </a:rPr>
              <a:t>Approach</a:t>
            </a:r>
          </a:p>
          <a:p>
            <a:pPr marL="569595" marR="5080">
              <a:lnSpc>
                <a:spcPct val="131900"/>
              </a:lnSpc>
              <a:spcBef>
                <a:spcPts val="1180"/>
              </a:spcBef>
            </a:pPr>
            <a:r>
              <a:rPr sz="1350" spc="-60" dirty="0">
                <a:solidFill>
                  <a:srgbClr val="545759"/>
                </a:solidFill>
              </a:rPr>
              <a:t>Database</a:t>
            </a:r>
            <a:r>
              <a:rPr sz="1350" spc="-160" dirty="0">
                <a:solidFill>
                  <a:srgbClr val="545759"/>
                </a:solidFill>
              </a:rPr>
              <a:t> </a:t>
            </a:r>
            <a:r>
              <a:rPr sz="1350" spc="-40" dirty="0">
                <a:solidFill>
                  <a:srgbClr val="545759"/>
                </a:solidFill>
              </a:rPr>
              <a:t>designed</a:t>
            </a:r>
            <a:r>
              <a:rPr sz="1350" spc="-155" dirty="0">
                <a:solidFill>
                  <a:srgbClr val="545759"/>
                </a:solidFill>
              </a:rPr>
              <a:t> </a:t>
            </a:r>
            <a:r>
              <a:rPr sz="1350" spc="-55" dirty="0">
                <a:solidFill>
                  <a:srgbClr val="545759"/>
                </a:solidFill>
              </a:rPr>
              <a:t>first,</a:t>
            </a:r>
            <a:r>
              <a:rPr sz="1350" spc="-155" dirty="0">
                <a:solidFill>
                  <a:srgbClr val="545759"/>
                </a:solidFill>
              </a:rPr>
              <a:t> </a:t>
            </a:r>
            <a:r>
              <a:rPr sz="1350" spc="-45" dirty="0">
                <a:solidFill>
                  <a:srgbClr val="545759"/>
                </a:solidFill>
              </a:rPr>
              <a:t>then</a:t>
            </a:r>
            <a:r>
              <a:rPr sz="1350" spc="-160" dirty="0">
                <a:solidFill>
                  <a:srgbClr val="545759"/>
                </a:solidFill>
              </a:rPr>
              <a:t> </a:t>
            </a:r>
            <a:r>
              <a:rPr sz="1350" spc="-35" dirty="0">
                <a:solidFill>
                  <a:srgbClr val="545759"/>
                </a:solidFill>
              </a:rPr>
              <a:t>scaffolded</a:t>
            </a:r>
            <a:r>
              <a:rPr sz="1350" spc="-155" dirty="0">
                <a:solidFill>
                  <a:srgbClr val="545759"/>
                </a:solidFill>
              </a:rPr>
              <a:t> </a:t>
            </a:r>
            <a:r>
              <a:rPr sz="1350" spc="-55" dirty="0">
                <a:solidFill>
                  <a:srgbClr val="545759"/>
                </a:solidFill>
              </a:rPr>
              <a:t>into</a:t>
            </a:r>
            <a:r>
              <a:rPr sz="1350" spc="-155" dirty="0">
                <a:solidFill>
                  <a:srgbClr val="545759"/>
                </a:solidFill>
              </a:rPr>
              <a:t> </a:t>
            </a:r>
            <a:r>
              <a:rPr sz="1350" spc="-100" dirty="0">
                <a:solidFill>
                  <a:srgbClr val="545759"/>
                </a:solidFill>
              </a:rPr>
              <a:t>EF</a:t>
            </a:r>
            <a:r>
              <a:rPr sz="1350" spc="-155" dirty="0">
                <a:solidFill>
                  <a:srgbClr val="545759"/>
                </a:solidFill>
              </a:rPr>
              <a:t> </a:t>
            </a:r>
            <a:r>
              <a:rPr sz="1350" spc="-20" dirty="0">
                <a:solidFill>
                  <a:srgbClr val="545759"/>
                </a:solidFill>
              </a:rPr>
              <a:t>Core </a:t>
            </a:r>
            <a:r>
              <a:rPr sz="1350" spc="-60" dirty="0">
                <a:solidFill>
                  <a:srgbClr val="545759"/>
                </a:solidFill>
              </a:rPr>
              <a:t>models</a:t>
            </a:r>
            <a:r>
              <a:rPr sz="1350" spc="-175" dirty="0">
                <a:solidFill>
                  <a:srgbClr val="545759"/>
                </a:solidFill>
              </a:rPr>
              <a:t> </a:t>
            </a:r>
            <a:r>
              <a:rPr sz="1350" spc="-50" dirty="0">
                <a:solidFill>
                  <a:srgbClr val="545759"/>
                </a:solidFill>
              </a:rPr>
              <a:t>using</a:t>
            </a:r>
            <a:r>
              <a:rPr sz="1350" spc="-175" dirty="0">
                <a:solidFill>
                  <a:srgbClr val="545759"/>
                </a:solidFill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Scaffold-</a:t>
            </a:r>
            <a:r>
              <a:rPr sz="1350" spc="-65" dirty="0">
                <a:solidFill>
                  <a:srgbClr val="545759"/>
                </a:solidFill>
                <a:latin typeface="Lucida Sans Unicode"/>
                <a:cs typeface="Lucida Sans Unicode"/>
              </a:rPr>
              <a:t>DbContext</a:t>
            </a:r>
            <a:r>
              <a:rPr sz="1350" spc="-114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350" spc="-300" dirty="0">
                <a:solidFill>
                  <a:srgbClr val="545759"/>
                </a:solidFill>
              </a:rPr>
              <a:t>—</a:t>
            </a:r>
            <a:r>
              <a:rPr sz="1350" spc="-175" dirty="0">
                <a:solidFill>
                  <a:srgbClr val="545759"/>
                </a:solidFill>
              </a:rPr>
              <a:t> </a:t>
            </a:r>
            <a:r>
              <a:rPr sz="1350" spc="-55" dirty="0">
                <a:solidFill>
                  <a:srgbClr val="545759"/>
                </a:solidFill>
              </a:rPr>
              <a:t>ensuring</a:t>
            </a:r>
            <a:r>
              <a:rPr sz="1350" spc="-175" dirty="0">
                <a:solidFill>
                  <a:srgbClr val="545759"/>
                </a:solidFill>
              </a:rPr>
              <a:t> </a:t>
            </a:r>
            <a:r>
              <a:rPr sz="1350" spc="-25" dirty="0">
                <a:solidFill>
                  <a:srgbClr val="545759"/>
                </a:solidFill>
              </a:rPr>
              <a:t>schema-</a:t>
            </a:r>
            <a:r>
              <a:rPr sz="1350" spc="-80" dirty="0">
                <a:solidFill>
                  <a:srgbClr val="545759"/>
                </a:solidFill>
              </a:rPr>
              <a:t>driven</a:t>
            </a:r>
            <a:r>
              <a:rPr sz="1350" spc="-165" dirty="0">
                <a:solidFill>
                  <a:srgbClr val="545759"/>
                </a:solidFill>
              </a:rPr>
              <a:t> </a:t>
            </a:r>
            <a:r>
              <a:rPr sz="1350" spc="-10" dirty="0">
                <a:solidFill>
                  <a:srgbClr val="545759"/>
                </a:solidFill>
              </a:rPr>
              <a:t>development.</a:t>
            </a:r>
            <a:endParaRPr sz="1350" dirty="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1350" dirty="0"/>
          </a:p>
          <a:p>
            <a:pPr marL="569595">
              <a:lnSpc>
                <a:spcPct val="100000"/>
              </a:lnSpc>
            </a:pPr>
            <a:r>
              <a:rPr spc="-35" dirty="0">
                <a:solidFill>
                  <a:srgbClr val="545759"/>
                </a:solidFill>
              </a:rPr>
              <a:t>Repository</a:t>
            </a:r>
            <a:r>
              <a:rPr spc="-85" dirty="0">
                <a:solidFill>
                  <a:srgbClr val="545759"/>
                </a:solidFill>
              </a:rPr>
              <a:t> </a:t>
            </a:r>
            <a:r>
              <a:rPr spc="-250" dirty="0">
                <a:solidFill>
                  <a:srgbClr val="545759"/>
                </a:solidFill>
              </a:rPr>
              <a:t>+</a:t>
            </a:r>
            <a:r>
              <a:rPr spc="-80" dirty="0">
                <a:solidFill>
                  <a:srgbClr val="545759"/>
                </a:solidFill>
              </a:rPr>
              <a:t> </a:t>
            </a:r>
            <a:r>
              <a:rPr spc="-20" dirty="0">
                <a:solidFill>
                  <a:srgbClr val="545759"/>
                </a:solidFill>
              </a:rPr>
              <a:t>Service</a:t>
            </a:r>
            <a:r>
              <a:rPr spc="-85" dirty="0">
                <a:solidFill>
                  <a:srgbClr val="545759"/>
                </a:solidFill>
              </a:rPr>
              <a:t> </a:t>
            </a:r>
            <a:r>
              <a:rPr spc="-10" dirty="0">
                <a:solidFill>
                  <a:srgbClr val="545759"/>
                </a:solidFill>
              </a:rPr>
              <a:t>Pattern</a:t>
            </a:r>
          </a:p>
          <a:p>
            <a:pPr marL="569595" marR="50165">
              <a:lnSpc>
                <a:spcPct val="134300"/>
              </a:lnSpc>
              <a:spcBef>
                <a:spcPts val="1140"/>
              </a:spcBef>
            </a:pPr>
            <a:r>
              <a:rPr sz="1350" spc="-60" dirty="0">
                <a:solidFill>
                  <a:srgbClr val="545759"/>
                </a:solidFill>
              </a:rPr>
              <a:t>Separates</a:t>
            </a:r>
            <a:r>
              <a:rPr sz="1350" spc="-170" dirty="0">
                <a:solidFill>
                  <a:srgbClr val="545759"/>
                </a:solidFill>
              </a:rPr>
              <a:t> </a:t>
            </a:r>
            <a:r>
              <a:rPr sz="1350" spc="-50" dirty="0">
                <a:solidFill>
                  <a:srgbClr val="545759"/>
                </a:solidFill>
              </a:rPr>
              <a:t>data</a:t>
            </a:r>
            <a:r>
              <a:rPr sz="1350" spc="-170" dirty="0">
                <a:solidFill>
                  <a:srgbClr val="545759"/>
                </a:solidFill>
              </a:rPr>
              <a:t> </a:t>
            </a:r>
            <a:r>
              <a:rPr sz="1350" spc="-10" dirty="0">
                <a:solidFill>
                  <a:srgbClr val="545759"/>
                </a:solidFill>
              </a:rPr>
              <a:t>access</a:t>
            </a:r>
            <a:r>
              <a:rPr sz="1350" spc="-170" dirty="0">
                <a:solidFill>
                  <a:srgbClr val="545759"/>
                </a:solidFill>
              </a:rPr>
              <a:t> </a:t>
            </a:r>
            <a:r>
              <a:rPr sz="1350" spc="-85" dirty="0">
                <a:solidFill>
                  <a:srgbClr val="545759"/>
                </a:solidFill>
              </a:rPr>
              <a:t>from</a:t>
            </a:r>
            <a:r>
              <a:rPr sz="1350" spc="-170" dirty="0">
                <a:solidFill>
                  <a:srgbClr val="545759"/>
                </a:solidFill>
              </a:rPr>
              <a:t> </a:t>
            </a:r>
            <a:r>
              <a:rPr sz="1350" spc="-30" dirty="0">
                <a:solidFill>
                  <a:srgbClr val="545759"/>
                </a:solidFill>
              </a:rPr>
              <a:t>business</a:t>
            </a:r>
            <a:r>
              <a:rPr sz="1350" spc="-165" dirty="0">
                <a:solidFill>
                  <a:srgbClr val="545759"/>
                </a:solidFill>
              </a:rPr>
              <a:t> </a:t>
            </a:r>
            <a:r>
              <a:rPr sz="1350" spc="-60" dirty="0">
                <a:solidFill>
                  <a:srgbClr val="545759"/>
                </a:solidFill>
              </a:rPr>
              <a:t>logic,</a:t>
            </a:r>
            <a:r>
              <a:rPr sz="1350" spc="-170" dirty="0">
                <a:solidFill>
                  <a:srgbClr val="545759"/>
                </a:solidFill>
              </a:rPr>
              <a:t> </a:t>
            </a:r>
            <a:r>
              <a:rPr sz="1350" spc="-70" dirty="0">
                <a:solidFill>
                  <a:srgbClr val="545759"/>
                </a:solidFill>
              </a:rPr>
              <a:t>improving </a:t>
            </a:r>
            <a:r>
              <a:rPr sz="1350" spc="-50" dirty="0">
                <a:solidFill>
                  <a:srgbClr val="545759"/>
                </a:solidFill>
              </a:rPr>
              <a:t>testability</a:t>
            </a:r>
            <a:r>
              <a:rPr sz="1350" spc="-150" dirty="0">
                <a:solidFill>
                  <a:srgbClr val="545759"/>
                </a:solidFill>
              </a:rPr>
              <a:t> </a:t>
            </a:r>
            <a:r>
              <a:rPr sz="1350" spc="-60" dirty="0">
                <a:solidFill>
                  <a:srgbClr val="545759"/>
                </a:solidFill>
              </a:rPr>
              <a:t>and</a:t>
            </a:r>
            <a:r>
              <a:rPr sz="1350" spc="-150" dirty="0">
                <a:solidFill>
                  <a:srgbClr val="545759"/>
                </a:solidFill>
              </a:rPr>
              <a:t> </a:t>
            </a:r>
            <a:r>
              <a:rPr sz="1350" spc="-70" dirty="0">
                <a:solidFill>
                  <a:srgbClr val="545759"/>
                </a:solidFill>
              </a:rPr>
              <a:t>maintainability</a:t>
            </a:r>
            <a:r>
              <a:rPr sz="1350" spc="-145" dirty="0">
                <a:solidFill>
                  <a:srgbClr val="545759"/>
                </a:solidFill>
              </a:rPr>
              <a:t> </a:t>
            </a:r>
            <a:r>
              <a:rPr sz="1350" spc="-35" dirty="0">
                <a:solidFill>
                  <a:srgbClr val="545759"/>
                </a:solidFill>
              </a:rPr>
              <a:t>across</a:t>
            </a:r>
            <a:r>
              <a:rPr sz="1350" spc="-150" dirty="0">
                <a:solidFill>
                  <a:srgbClr val="545759"/>
                </a:solidFill>
              </a:rPr>
              <a:t> </a:t>
            </a:r>
            <a:r>
              <a:rPr sz="1350" spc="-30" dirty="0">
                <a:solidFill>
                  <a:srgbClr val="545759"/>
                </a:solidFill>
              </a:rPr>
              <a:t>the</a:t>
            </a:r>
            <a:r>
              <a:rPr sz="1350" spc="-145" dirty="0">
                <a:solidFill>
                  <a:srgbClr val="545759"/>
                </a:solidFill>
              </a:rPr>
              <a:t> </a:t>
            </a:r>
            <a:r>
              <a:rPr sz="1350" spc="-10" dirty="0">
                <a:solidFill>
                  <a:srgbClr val="545759"/>
                </a:solidFill>
              </a:rPr>
              <a:t>codebase.</a:t>
            </a:r>
            <a:endParaRPr sz="1350" dirty="0"/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1350" dirty="0"/>
          </a:p>
          <a:p>
            <a:pPr marL="569595">
              <a:lnSpc>
                <a:spcPct val="100000"/>
              </a:lnSpc>
            </a:pPr>
            <a:r>
              <a:rPr spc="-30" dirty="0">
                <a:solidFill>
                  <a:srgbClr val="545759"/>
                </a:solidFill>
              </a:rPr>
              <a:t>Swagger</a:t>
            </a:r>
            <a:r>
              <a:rPr spc="-75" dirty="0">
                <a:solidFill>
                  <a:srgbClr val="545759"/>
                </a:solidFill>
              </a:rPr>
              <a:t> </a:t>
            </a:r>
            <a:r>
              <a:rPr spc="-25" dirty="0">
                <a:solidFill>
                  <a:srgbClr val="545759"/>
                </a:solidFill>
              </a:rPr>
              <a:t>UI</a:t>
            </a:r>
          </a:p>
          <a:p>
            <a:pPr marL="569595" marR="222250">
              <a:lnSpc>
                <a:spcPct val="134300"/>
              </a:lnSpc>
              <a:spcBef>
                <a:spcPts val="1140"/>
              </a:spcBef>
            </a:pPr>
            <a:r>
              <a:rPr sz="1350" spc="-55" dirty="0">
                <a:solidFill>
                  <a:srgbClr val="545759"/>
                </a:solidFill>
              </a:rPr>
              <a:t>Auto-</a:t>
            </a:r>
            <a:r>
              <a:rPr sz="1350" spc="-60" dirty="0">
                <a:solidFill>
                  <a:srgbClr val="545759"/>
                </a:solidFill>
              </a:rPr>
              <a:t>generated</a:t>
            </a:r>
            <a:r>
              <a:rPr sz="1350" spc="-160" dirty="0">
                <a:solidFill>
                  <a:srgbClr val="545759"/>
                </a:solidFill>
              </a:rPr>
              <a:t> </a:t>
            </a:r>
            <a:r>
              <a:rPr sz="1350" spc="-55" dirty="0">
                <a:solidFill>
                  <a:srgbClr val="545759"/>
                </a:solidFill>
              </a:rPr>
              <a:t>interactive</a:t>
            </a:r>
            <a:r>
              <a:rPr sz="1350" spc="-155" dirty="0">
                <a:solidFill>
                  <a:srgbClr val="545759"/>
                </a:solidFill>
              </a:rPr>
              <a:t> </a:t>
            </a:r>
            <a:r>
              <a:rPr sz="1350" spc="-114" dirty="0">
                <a:solidFill>
                  <a:srgbClr val="545759"/>
                </a:solidFill>
              </a:rPr>
              <a:t>API</a:t>
            </a:r>
            <a:r>
              <a:rPr sz="1350" spc="-160" dirty="0">
                <a:solidFill>
                  <a:srgbClr val="545759"/>
                </a:solidFill>
              </a:rPr>
              <a:t> </a:t>
            </a:r>
            <a:r>
              <a:rPr sz="1350" spc="-10" dirty="0">
                <a:solidFill>
                  <a:srgbClr val="545759"/>
                </a:solidFill>
              </a:rPr>
              <a:t>docs</a:t>
            </a:r>
            <a:r>
              <a:rPr sz="1350" spc="-155" dirty="0">
                <a:solidFill>
                  <a:srgbClr val="545759"/>
                </a:solidFill>
              </a:rPr>
              <a:t> </a:t>
            </a:r>
            <a:r>
              <a:rPr sz="1350" spc="-300" dirty="0">
                <a:solidFill>
                  <a:srgbClr val="545759"/>
                </a:solidFill>
              </a:rPr>
              <a:t>—</a:t>
            </a:r>
            <a:r>
              <a:rPr sz="1350" spc="-155" dirty="0">
                <a:solidFill>
                  <a:srgbClr val="545759"/>
                </a:solidFill>
              </a:rPr>
              <a:t> </a:t>
            </a:r>
            <a:r>
              <a:rPr sz="1350" spc="-60" dirty="0">
                <a:solidFill>
                  <a:srgbClr val="545759"/>
                </a:solidFill>
              </a:rPr>
              <a:t>enabling</a:t>
            </a:r>
            <a:r>
              <a:rPr sz="1350" spc="-160" dirty="0">
                <a:solidFill>
                  <a:srgbClr val="545759"/>
                </a:solidFill>
              </a:rPr>
              <a:t> </a:t>
            </a:r>
            <a:r>
              <a:rPr sz="1350" spc="-30" dirty="0">
                <a:solidFill>
                  <a:srgbClr val="545759"/>
                </a:solidFill>
              </a:rPr>
              <a:t>live </a:t>
            </a:r>
            <a:r>
              <a:rPr sz="1350" spc="-40" dirty="0">
                <a:solidFill>
                  <a:srgbClr val="545759"/>
                </a:solidFill>
              </a:rPr>
              <a:t>testing</a:t>
            </a:r>
            <a:r>
              <a:rPr sz="1350" spc="-165" dirty="0">
                <a:solidFill>
                  <a:srgbClr val="545759"/>
                </a:solidFill>
              </a:rPr>
              <a:t> </a:t>
            </a:r>
            <a:r>
              <a:rPr sz="1350" spc="-45" dirty="0">
                <a:solidFill>
                  <a:srgbClr val="545759"/>
                </a:solidFill>
              </a:rPr>
              <a:t>without</a:t>
            </a:r>
            <a:r>
              <a:rPr sz="1350" spc="-160" dirty="0">
                <a:solidFill>
                  <a:srgbClr val="545759"/>
                </a:solidFill>
              </a:rPr>
              <a:t> </a:t>
            </a:r>
            <a:r>
              <a:rPr sz="1350" spc="-55" dirty="0">
                <a:solidFill>
                  <a:srgbClr val="545759"/>
                </a:solidFill>
              </a:rPr>
              <a:t>Postman</a:t>
            </a:r>
            <a:r>
              <a:rPr sz="1350" spc="-160" dirty="0">
                <a:solidFill>
                  <a:srgbClr val="545759"/>
                </a:solidFill>
              </a:rPr>
              <a:t> </a:t>
            </a:r>
            <a:r>
              <a:rPr sz="1350" spc="-70" dirty="0">
                <a:solidFill>
                  <a:srgbClr val="545759"/>
                </a:solidFill>
              </a:rPr>
              <a:t>or</a:t>
            </a:r>
            <a:r>
              <a:rPr sz="1350" spc="-160" dirty="0">
                <a:solidFill>
                  <a:srgbClr val="545759"/>
                </a:solidFill>
              </a:rPr>
              <a:t> </a:t>
            </a:r>
            <a:r>
              <a:rPr sz="1350" spc="-65" dirty="0">
                <a:solidFill>
                  <a:srgbClr val="545759"/>
                </a:solidFill>
              </a:rPr>
              <a:t>external</a:t>
            </a:r>
            <a:r>
              <a:rPr sz="1350" spc="-160" dirty="0">
                <a:solidFill>
                  <a:srgbClr val="545759"/>
                </a:solidFill>
              </a:rPr>
              <a:t> </a:t>
            </a:r>
            <a:r>
              <a:rPr sz="1350" spc="-10" dirty="0">
                <a:solidFill>
                  <a:srgbClr val="545759"/>
                </a:solidFill>
              </a:rPr>
              <a:t>tools.</a:t>
            </a:r>
            <a:endParaRPr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System</a:t>
            </a:r>
            <a:r>
              <a:rPr spc="-175" dirty="0"/>
              <a:t> </a:t>
            </a:r>
            <a:r>
              <a:rPr spc="-75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1297939"/>
            <a:ext cx="1012507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strict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layered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architecture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ensures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separation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of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concerns,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testability,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clean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boundaries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between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each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responsibility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in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the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system.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4329" y="2507508"/>
            <a:ext cx="4617115" cy="40783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80803" y="2556741"/>
            <a:ext cx="2221230" cy="950594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750" spc="-20" dirty="0">
                <a:solidFill>
                  <a:srgbClr val="545759"/>
                </a:solidFill>
                <a:latin typeface="Verdana"/>
                <a:cs typeface="Verdana"/>
              </a:rPr>
              <a:t>Application</a:t>
            </a:r>
            <a:r>
              <a:rPr sz="1750" spc="-9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750" spc="-10" dirty="0">
                <a:solidFill>
                  <a:srgbClr val="545759"/>
                </a:solidFill>
                <a:latin typeface="Verdana"/>
                <a:cs typeface="Verdana"/>
              </a:rPr>
              <a:t>Surface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03699"/>
              </a:lnSpc>
              <a:spcBef>
                <a:spcPts val="725"/>
              </a:spcBef>
            </a:pPr>
            <a:r>
              <a:rPr sz="1400" spc="-114" dirty="0">
                <a:solidFill>
                  <a:srgbClr val="545759"/>
                </a:solidFill>
                <a:latin typeface="Verdana"/>
                <a:cs typeface="Verdana"/>
              </a:rPr>
              <a:t>API</a:t>
            </a:r>
            <a:r>
              <a:rPr sz="140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545759"/>
                </a:solidFill>
                <a:latin typeface="Verdana"/>
                <a:cs typeface="Verdana"/>
              </a:rPr>
              <a:t>controllers</a:t>
            </a:r>
            <a:r>
              <a:rPr sz="140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40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545759"/>
                </a:solidFill>
                <a:latin typeface="Verdana"/>
                <a:cs typeface="Verdana"/>
              </a:rPr>
              <a:t>service </a:t>
            </a:r>
            <a:r>
              <a:rPr sz="1400" spc="-80" dirty="0">
                <a:solidFill>
                  <a:srgbClr val="545759"/>
                </a:solidFill>
                <a:latin typeface="Verdana"/>
                <a:cs typeface="Verdana"/>
              </a:rPr>
              <a:t>layer</a:t>
            </a:r>
            <a:r>
              <a:rPr sz="140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545759"/>
                </a:solidFill>
                <a:latin typeface="Verdana"/>
                <a:cs typeface="Verdana"/>
              </a:rPr>
              <a:t>enforce</a:t>
            </a:r>
            <a:r>
              <a:rPr sz="140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545759"/>
                </a:solidFill>
                <a:latin typeface="Verdana"/>
                <a:cs typeface="Verdana"/>
              </a:rPr>
              <a:t>rules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646" y="3974868"/>
            <a:ext cx="2003425" cy="118237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70"/>
              </a:spcBef>
            </a:pPr>
            <a:r>
              <a:rPr sz="1750" spc="-80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r>
              <a:rPr sz="1750" spc="-9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750" spc="-10" dirty="0">
                <a:solidFill>
                  <a:srgbClr val="545759"/>
                </a:solidFill>
                <a:latin typeface="Verdana"/>
                <a:cs typeface="Verdana"/>
              </a:rPr>
              <a:t>Access</a:t>
            </a:r>
            <a:endParaRPr sz="1750">
              <a:latin typeface="Verdana"/>
              <a:cs typeface="Verdana"/>
            </a:endParaRPr>
          </a:p>
          <a:p>
            <a:pPr marL="12700" marR="5080" indent="714375" algn="r">
              <a:lnSpc>
                <a:spcPct val="108400"/>
              </a:lnSpc>
              <a:spcBef>
                <a:spcPts val="645"/>
              </a:spcBef>
            </a:pPr>
            <a:r>
              <a:rPr sz="1400" spc="-40" dirty="0">
                <a:solidFill>
                  <a:srgbClr val="545759"/>
                </a:solidFill>
                <a:latin typeface="Verdana"/>
                <a:cs typeface="Verdana"/>
              </a:rPr>
              <a:t>DbContext</a:t>
            </a:r>
            <a:r>
              <a:rPr sz="1400" spc="-13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400" spc="-40" dirty="0">
                <a:solidFill>
                  <a:srgbClr val="545759"/>
                </a:solidFill>
                <a:latin typeface="Verdana"/>
                <a:cs typeface="Verdana"/>
              </a:rPr>
              <a:t>repositories</a:t>
            </a:r>
            <a:r>
              <a:rPr sz="1400" spc="-1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545759"/>
                </a:solidFill>
                <a:latin typeface="Verdana"/>
                <a:cs typeface="Verdana"/>
              </a:rPr>
              <a:t>abstract</a:t>
            </a:r>
            <a:r>
              <a:rPr sz="1400" spc="-1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55" dirty="0">
                <a:solidFill>
                  <a:srgbClr val="545759"/>
                </a:solidFill>
                <a:latin typeface="Verdana"/>
                <a:cs typeface="Verdana"/>
              </a:rPr>
              <a:t>EF</a:t>
            </a:r>
            <a:endParaRPr sz="14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1400" spc="-20" dirty="0">
                <a:solidFill>
                  <a:srgbClr val="545759"/>
                </a:solidFill>
                <a:latin typeface="Verdana"/>
                <a:cs typeface="Verdana"/>
              </a:rPr>
              <a:t>Core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80803" y="4890113"/>
            <a:ext cx="2019935" cy="950594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750" dirty="0">
                <a:solidFill>
                  <a:srgbClr val="545759"/>
                </a:solidFill>
                <a:latin typeface="Verdana"/>
                <a:cs typeface="Verdana"/>
              </a:rPr>
              <a:t>Core</a:t>
            </a:r>
            <a:r>
              <a:rPr sz="17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750" spc="-10" dirty="0">
                <a:solidFill>
                  <a:srgbClr val="545759"/>
                </a:solidFill>
                <a:latin typeface="Verdana"/>
                <a:cs typeface="Verdana"/>
              </a:rPr>
              <a:t>Persistence</a:t>
            </a:r>
            <a:endParaRPr sz="1750">
              <a:latin typeface="Verdana"/>
              <a:cs typeface="Verdana"/>
            </a:endParaRPr>
          </a:p>
          <a:p>
            <a:pPr marL="12700" marR="5080">
              <a:lnSpc>
                <a:spcPct val="103699"/>
              </a:lnSpc>
              <a:spcBef>
                <a:spcPts val="725"/>
              </a:spcBef>
            </a:pPr>
            <a:r>
              <a:rPr sz="1400" spc="-80" dirty="0">
                <a:solidFill>
                  <a:srgbClr val="545759"/>
                </a:solidFill>
                <a:latin typeface="Verdana"/>
                <a:cs typeface="Verdana"/>
              </a:rPr>
              <a:t>SQL</a:t>
            </a:r>
            <a:r>
              <a:rPr sz="1400" spc="-25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545759"/>
                </a:solidFill>
                <a:latin typeface="Verdana"/>
                <a:cs typeface="Verdana"/>
              </a:rPr>
              <a:t>Server</a:t>
            </a:r>
            <a:r>
              <a:rPr sz="140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40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545759"/>
                </a:solidFill>
                <a:latin typeface="Verdana"/>
                <a:cs typeface="Verdana"/>
              </a:rPr>
              <a:t>relational </a:t>
            </a:r>
            <a:r>
              <a:rPr sz="1400" spc="-10" dirty="0">
                <a:solidFill>
                  <a:srgbClr val="545759"/>
                </a:solidFill>
                <a:latin typeface="Verdana"/>
                <a:cs typeface="Verdana"/>
              </a:rPr>
              <a:t>storage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4362" y="8242300"/>
            <a:ext cx="1020127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Each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layer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communicates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only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its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immediate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neighbor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0" dirty="0">
                <a:solidFill>
                  <a:srgbClr val="545759"/>
                </a:solidFill>
                <a:latin typeface="Verdana"/>
                <a:cs typeface="Verdana"/>
              </a:rPr>
              <a:t>—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controllers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never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touch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database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directly,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repositories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never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contain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business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rules.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This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makes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unit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testing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straightforward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system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easy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extend.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4" dirty="0"/>
              <a:t>Database</a:t>
            </a:r>
            <a:r>
              <a:rPr spc="-155" dirty="0"/>
              <a:t> </a:t>
            </a:r>
            <a:r>
              <a:rPr spc="-40" dirty="0"/>
              <a:t>Design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124" y="3509645"/>
            <a:ext cx="4905374" cy="49053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38392" y="3106419"/>
            <a:ext cx="1310640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0C0D0E"/>
                </a:solidFill>
                <a:latin typeface="Verdana"/>
                <a:cs typeface="Verdana"/>
              </a:rPr>
              <a:t>Core</a:t>
            </a:r>
            <a:r>
              <a:rPr sz="1650" spc="-13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40" dirty="0">
                <a:solidFill>
                  <a:srgbClr val="0C0D0E"/>
                </a:solidFill>
                <a:latin typeface="Verdana"/>
                <a:cs typeface="Verdana"/>
              </a:rPr>
              <a:t>Entities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61062" y="3600132"/>
            <a:ext cx="2343150" cy="2171700"/>
          </a:xfrm>
          <a:custGeom>
            <a:avLst/>
            <a:gdLst/>
            <a:ahLst/>
            <a:cxnLst/>
            <a:rect l="l" t="t" r="r" b="b"/>
            <a:pathLst>
              <a:path w="2343150" h="2171700">
                <a:moveTo>
                  <a:pt x="0" y="2052637"/>
                </a:moveTo>
                <a:lnTo>
                  <a:pt x="0" y="119062"/>
                </a:lnTo>
                <a:lnTo>
                  <a:pt x="0" y="111239"/>
                </a:lnTo>
                <a:lnTo>
                  <a:pt x="762" y="103505"/>
                </a:lnTo>
                <a:lnTo>
                  <a:pt x="2286" y="95834"/>
                </a:lnTo>
                <a:lnTo>
                  <a:pt x="3810" y="88163"/>
                </a:lnTo>
                <a:lnTo>
                  <a:pt x="6070" y="80721"/>
                </a:lnTo>
                <a:lnTo>
                  <a:pt x="9067" y="73494"/>
                </a:lnTo>
                <a:lnTo>
                  <a:pt x="12052" y="66281"/>
                </a:lnTo>
                <a:lnTo>
                  <a:pt x="15722" y="59410"/>
                </a:lnTo>
                <a:lnTo>
                  <a:pt x="20066" y="52908"/>
                </a:lnTo>
                <a:lnTo>
                  <a:pt x="24409" y="46418"/>
                </a:lnTo>
                <a:lnTo>
                  <a:pt x="29349" y="40398"/>
                </a:lnTo>
                <a:lnTo>
                  <a:pt x="34874" y="34874"/>
                </a:lnTo>
                <a:lnTo>
                  <a:pt x="40398" y="29349"/>
                </a:lnTo>
                <a:lnTo>
                  <a:pt x="73494" y="9067"/>
                </a:lnTo>
                <a:lnTo>
                  <a:pt x="80721" y="6070"/>
                </a:lnTo>
                <a:lnTo>
                  <a:pt x="88163" y="3810"/>
                </a:lnTo>
                <a:lnTo>
                  <a:pt x="95834" y="2286"/>
                </a:lnTo>
                <a:lnTo>
                  <a:pt x="103505" y="762"/>
                </a:lnTo>
                <a:lnTo>
                  <a:pt x="111239" y="0"/>
                </a:lnTo>
                <a:lnTo>
                  <a:pt x="119062" y="0"/>
                </a:lnTo>
                <a:lnTo>
                  <a:pt x="2224087" y="0"/>
                </a:lnTo>
                <a:lnTo>
                  <a:pt x="2231910" y="0"/>
                </a:lnTo>
                <a:lnTo>
                  <a:pt x="2239645" y="762"/>
                </a:lnTo>
                <a:lnTo>
                  <a:pt x="2247315" y="2286"/>
                </a:lnTo>
                <a:lnTo>
                  <a:pt x="2254986" y="3810"/>
                </a:lnTo>
                <a:lnTo>
                  <a:pt x="2262428" y="6070"/>
                </a:lnTo>
                <a:lnTo>
                  <a:pt x="2269655" y="9067"/>
                </a:lnTo>
                <a:lnTo>
                  <a:pt x="2276868" y="12052"/>
                </a:lnTo>
                <a:lnTo>
                  <a:pt x="2283726" y="15722"/>
                </a:lnTo>
                <a:lnTo>
                  <a:pt x="2290229" y="20066"/>
                </a:lnTo>
                <a:lnTo>
                  <a:pt x="2296731" y="24409"/>
                </a:lnTo>
                <a:lnTo>
                  <a:pt x="2302751" y="29349"/>
                </a:lnTo>
                <a:lnTo>
                  <a:pt x="2308275" y="34874"/>
                </a:lnTo>
                <a:lnTo>
                  <a:pt x="2313800" y="40398"/>
                </a:lnTo>
                <a:lnTo>
                  <a:pt x="2334082" y="73494"/>
                </a:lnTo>
                <a:lnTo>
                  <a:pt x="2337079" y="80721"/>
                </a:lnTo>
                <a:lnTo>
                  <a:pt x="2339340" y="88163"/>
                </a:lnTo>
                <a:lnTo>
                  <a:pt x="2340864" y="95834"/>
                </a:lnTo>
                <a:lnTo>
                  <a:pt x="2342388" y="103505"/>
                </a:lnTo>
                <a:lnTo>
                  <a:pt x="2343150" y="111239"/>
                </a:lnTo>
                <a:lnTo>
                  <a:pt x="2343150" y="119062"/>
                </a:lnTo>
                <a:lnTo>
                  <a:pt x="2343150" y="2052637"/>
                </a:lnTo>
                <a:lnTo>
                  <a:pt x="2343150" y="2060460"/>
                </a:lnTo>
                <a:lnTo>
                  <a:pt x="2342388" y="2068195"/>
                </a:lnTo>
                <a:lnTo>
                  <a:pt x="2340864" y="2075865"/>
                </a:lnTo>
                <a:lnTo>
                  <a:pt x="2339340" y="2083536"/>
                </a:lnTo>
                <a:lnTo>
                  <a:pt x="2337079" y="2090978"/>
                </a:lnTo>
                <a:lnTo>
                  <a:pt x="2334082" y="2098192"/>
                </a:lnTo>
                <a:lnTo>
                  <a:pt x="2331097" y="2105418"/>
                </a:lnTo>
                <a:lnTo>
                  <a:pt x="2308275" y="2136825"/>
                </a:lnTo>
                <a:lnTo>
                  <a:pt x="2302751" y="2142350"/>
                </a:lnTo>
                <a:lnTo>
                  <a:pt x="2296731" y="2147290"/>
                </a:lnTo>
                <a:lnTo>
                  <a:pt x="2290229" y="2151634"/>
                </a:lnTo>
                <a:lnTo>
                  <a:pt x="2283726" y="2155977"/>
                </a:lnTo>
                <a:lnTo>
                  <a:pt x="2276868" y="2159647"/>
                </a:lnTo>
                <a:lnTo>
                  <a:pt x="2269655" y="2162632"/>
                </a:lnTo>
                <a:lnTo>
                  <a:pt x="2262428" y="2165629"/>
                </a:lnTo>
                <a:lnTo>
                  <a:pt x="2254986" y="2167890"/>
                </a:lnTo>
                <a:lnTo>
                  <a:pt x="2247315" y="2169414"/>
                </a:lnTo>
                <a:lnTo>
                  <a:pt x="2239645" y="2170938"/>
                </a:lnTo>
                <a:lnTo>
                  <a:pt x="2231910" y="2171700"/>
                </a:lnTo>
                <a:lnTo>
                  <a:pt x="2224087" y="2171700"/>
                </a:lnTo>
                <a:lnTo>
                  <a:pt x="119062" y="2171700"/>
                </a:lnTo>
                <a:lnTo>
                  <a:pt x="111239" y="2171700"/>
                </a:lnTo>
                <a:lnTo>
                  <a:pt x="103505" y="2170938"/>
                </a:lnTo>
                <a:lnTo>
                  <a:pt x="95834" y="2169414"/>
                </a:lnTo>
                <a:lnTo>
                  <a:pt x="88163" y="2167890"/>
                </a:lnTo>
                <a:lnTo>
                  <a:pt x="80721" y="2165629"/>
                </a:lnTo>
                <a:lnTo>
                  <a:pt x="73494" y="2162632"/>
                </a:lnTo>
                <a:lnTo>
                  <a:pt x="66268" y="2159647"/>
                </a:lnTo>
                <a:lnTo>
                  <a:pt x="34874" y="2136825"/>
                </a:lnTo>
                <a:lnTo>
                  <a:pt x="29349" y="2131301"/>
                </a:lnTo>
                <a:lnTo>
                  <a:pt x="9067" y="2098192"/>
                </a:lnTo>
                <a:lnTo>
                  <a:pt x="6070" y="2090978"/>
                </a:lnTo>
                <a:lnTo>
                  <a:pt x="3810" y="2083536"/>
                </a:lnTo>
                <a:lnTo>
                  <a:pt x="2286" y="2075865"/>
                </a:lnTo>
                <a:lnTo>
                  <a:pt x="762" y="2068195"/>
                </a:lnTo>
                <a:lnTo>
                  <a:pt x="0" y="2060460"/>
                </a:lnTo>
                <a:lnTo>
                  <a:pt x="0" y="2052637"/>
                </a:lnTo>
                <a:close/>
              </a:path>
            </a:pathLst>
          </a:custGeom>
          <a:ln w="19050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28892" y="3763644"/>
            <a:ext cx="1713864" cy="1798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650" spc="-9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20" dirty="0">
                <a:solidFill>
                  <a:srgbClr val="545759"/>
                </a:solidFill>
                <a:latin typeface="Verdana"/>
                <a:cs typeface="Verdana"/>
              </a:rPr>
              <a:t>&amp;</a:t>
            </a:r>
            <a:r>
              <a:rPr sz="1650" spc="-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545759"/>
                </a:solidFill>
                <a:latin typeface="Verdana"/>
                <a:cs typeface="Verdana"/>
              </a:rPr>
              <a:t>Room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1215"/>
              </a:spcBef>
            </a:pP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stores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location,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rating,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contact.</a:t>
            </a:r>
            <a:endParaRPr sz="1350">
              <a:latin typeface="Verdana"/>
              <a:cs typeface="Verdana"/>
            </a:endParaRPr>
          </a:p>
          <a:p>
            <a:pPr marL="12700" marR="33020">
              <a:lnSpc>
                <a:spcPct val="134300"/>
              </a:lnSpc>
            </a:pP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Room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tracks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number,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type,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price,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availability.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94712" y="3600132"/>
            <a:ext cx="2352675" cy="2171700"/>
          </a:xfrm>
          <a:custGeom>
            <a:avLst/>
            <a:gdLst/>
            <a:ahLst/>
            <a:cxnLst/>
            <a:rect l="l" t="t" r="r" b="b"/>
            <a:pathLst>
              <a:path w="2352675" h="2171700">
                <a:moveTo>
                  <a:pt x="0" y="2052637"/>
                </a:moveTo>
                <a:lnTo>
                  <a:pt x="0" y="119062"/>
                </a:lnTo>
                <a:lnTo>
                  <a:pt x="0" y="111239"/>
                </a:lnTo>
                <a:lnTo>
                  <a:pt x="762" y="103505"/>
                </a:lnTo>
                <a:lnTo>
                  <a:pt x="2286" y="95834"/>
                </a:lnTo>
                <a:lnTo>
                  <a:pt x="3810" y="88163"/>
                </a:lnTo>
                <a:lnTo>
                  <a:pt x="6070" y="80721"/>
                </a:lnTo>
                <a:lnTo>
                  <a:pt x="9067" y="73494"/>
                </a:lnTo>
                <a:lnTo>
                  <a:pt x="12052" y="66281"/>
                </a:lnTo>
                <a:lnTo>
                  <a:pt x="15722" y="59410"/>
                </a:lnTo>
                <a:lnTo>
                  <a:pt x="20066" y="52908"/>
                </a:lnTo>
                <a:lnTo>
                  <a:pt x="24409" y="46418"/>
                </a:lnTo>
                <a:lnTo>
                  <a:pt x="29349" y="40398"/>
                </a:lnTo>
                <a:lnTo>
                  <a:pt x="34874" y="34874"/>
                </a:lnTo>
                <a:lnTo>
                  <a:pt x="40398" y="29349"/>
                </a:lnTo>
                <a:lnTo>
                  <a:pt x="73494" y="9067"/>
                </a:lnTo>
                <a:lnTo>
                  <a:pt x="80721" y="6070"/>
                </a:lnTo>
                <a:lnTo>
                  <a:pt x="88163" y="3810"/>
                </a:lnTo>
                <a:lnTo>
                  <a:pt x="95834" y="2286"/>
                </a:lnTo>
                <a:lnTo>
                  <a:pt x="103505" y="762"/>
                </a:lnTo>
                <a:lnTo>
                  <a:pt x="111239" y="0"/>
                </a:lnTo>
                <a:lnTo>
                  <a:pt x="119062" y="0"/>
                </a:lnTo>
                <a:lnTo>
                  <a:pt x="2233612" y="0"/>
                </a:lnTo>
                <a:lnTo>
                  <a:pt x="2241435" y="0"/>
                </a:lnTo>
                <a:lnTo>
                  <a:pt x="2249170" y="762"/>
                </a:lnTo>
                <a:lnTo>
                  <a:pt x="2256840" y="2286"/>
                </a:lnTo>
                <a:lnTo>
                  <a:pt x="2264511" y="3810"/>
                </a:lnTo>
                <a:lnTo>
                  <a:pt x="2271953" y="6070"/>
                </a:lnTo>
                <a:lnTo>
                  <a:pt x="2279180" y="9067"/>
                </a:lnTo>
                <a:lnTo>
                  <a:pt x="2286393" y="12052"/>
                </a:lnTo>
                <a:lnTo>
                  <a:pt x="2293251" y="15722"/>
                </a:lnTo>
                <a:lnTo>
                  <a:pt x="2299754" y="20066"/>
                </a:lnTo>
                <a:lnTo>
                  <a:pt x="2306256" y="24409"/>
                </a:lnTo>
                <a:lnTo>
                  <a:pt x="2332609" y="52908"/>
                </a:lnTo>
                <a:lnTo>
                  <a:pt x="2343607" y="73494"/>
                </a:lnTo>
                <a:lnTo>
                  <a:pt x="2346604" y="80721"/>
                </a:lnTo>
                <a:lnTo>
                  <a:pt x="2348865" y="88163"/>
                </a:lnTo>
                <a:lnTo>
                  <a:pt x="2350389" y="95834"/>
                </a:lnTo>
                <a:lnTo>
                  <a:pt x="2351913" y="103505"/>
                </a:lnTo>
                <a:lnTo>
                  <a:pt x="2352675" y="111239"/>
                </a:lnTo>
                <a:lnTo>
                  <a:pt x="2352675" y="119062"/>
                </a:lnTo>
                <a:lnTo>
                  <a:pt x="2352675" y="2052637"/>
                </a:lnTo>
                <a:lnTo>
                  <a:pt x="2352675" y="2060460"/>
                </a:lnTo>
                <a:lnTo>
                  <a:pt x="2351913" y="2068195"/>
                </a:lnTo>
                <a:lnTo>
                  <a:pt x="2350389" y="2075865"/>
                </a:lnTo>
                <a:lnTo>
                  <a:pt x="2348865" y="2083536"/>
                </a:lnTo>
                <a:lnTo>
                  <a:pt x="2346604" y="2090978"/>
                </a:lnTo>
                <a:lnTo>
                  <a:pt x="2343607" y="2098192"/>
                </a:lnTo>
                <a:lnTo>
                  <a:pt x="2340622" y="2105418"/>
                </a:lnTo>
                <a:lnTo>
                  <a:pt x="2317800" y="2136825"/>
                </a:lnTo>
                <a:lnTo>
                  <a:pt x="2286393" y="2159647"/>
                </a:lnTo>
                <a:lnTo>
                  <a:pt x="2279180" y="2162632"/>
                </a:lnTo>
                <a:lnTo>
                  <a:pt x="2271953" y="2165629"/>
                </a:lnTo>
                <a:lnTo>
                  <a:pt x="2264511" y="2167890"/>
                </a:lnTo>
                <a:lnTo>
                  <a:pt x="2256840" y="2169414"/>
                </a:lnTo>
                <a:lnTo>
                  <a:pt x="2249170" y="2170938"/>
                </a:lnTo>
                <a:lnTo>
                  <a:pt x="2241435" y="2171700"/>
                </a:lnTo>
                <a:lnTo>
                  <a:pt x="2233612" y="2171700"/>
                </a:lnTo>
                <a:lnTo>
                  <a:pt x="119062" y="2171700"/>
                </a:lnTo>
                <a:lnTo>
                  <a:pt x="111239" y="2171700"/>
                </a:lnTo>
                <a:lnTo>
                  <a:pt x="103505" y="2170938"/>
                </a:lnTo>
                <a:lnTo>
                  <a:pt x="95834" y="2169414"/>
                </a:lnTo>
                <a:lnTo>
                  <a:pt x="88163" y="2167890"/>
                </a:lnTo>
                <a:lnTo>
                  <a:pt x="80721" y="2165629"/>
                </a:lnTo>
                <a:lnTo>
                  <a:pt x="73494" y="2162632"/>
                </a:lnTo>
                <a:lnTo>
                  <a:pt x="66268" y="2159647"/>
                </a:lnTo>
                <a:lnTo>
                  <a:pt x="34874" y="2136825"/>
                </a:lnTo>
                <a:lnTo>
                  <a:pt x="29349" y="2131301"/>
                </a:lnTo>
                <a:lnTo>
                  <a:pt x="9067" y="2098192"/>
                </a:lnTo>
                <a:lnTo>
                  <a:pt x="6070" y="2090978"/>
                </a:lnTo>
                <a:lnTo>
                  <a:pt x="3810" y="2083536"/>
                </a:lnTo>
                <a:lnTo>
                  <a:pt x="2286" y="2075865"/>
                </a:lnTo>
                <a:lnTo>
                  <a:pt x="762" y="2068195"/>
                </a:lnTo>
                <a:lnTo>
                  <a:pt x="0" y="2060460"/>
                </a:lnTo>
                <a:lnTo>
                  <a:pt x="0" y="2052637"/>
                </a:lnTo>
                <a:close/>
              </a:path>
            </a:pathLst>
          </a:custGeom>
          <a:ln w="19050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67457" y="3763644"/>
            <a:ext cx="1905635" cy="17983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Amenities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100"/>
              </a:lnSpc>
              <a:spcBef>
                <a:spcPts val="1160"/>
              </a:spcBef>
            </a:pPr>
            <a:r>
              <a:rPr sz="1350" spc="-100" dirty="0">
                <a:solidFill>
                  <a:srgbClr val="545759"/>
                </a:solidFill>
                <a:latin typeface="Arial Black"/>
                <a:cs typeface="Arial Black"/>
              </a:rPr>
              <a:t>HotelAmenity</a:t>
            </a:r>
            <a:r>
              <a:rPr sz="1350" spc="-114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110" dirty="0">
                <a:solidFill>
                  <a:srgbClr val="545759"/>
                </a:solidFill>
                <a:latin typeface="Arial Black"/>
                <a:cs typeface="Arial Black"/>
              </a:rPr>
              <a:t>RoomAmenity</a:t>
            </a:r>
            <a:r>
              <a:rPr sz="1350" spc="-10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junction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tables</a:t>
            </a:r>
            <a:r>
              <a:rPr sz="1350" spc="-20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resolve</a:t>
            </a:r>
            <a:r>
              <a:rPr sz="1350" spc="-20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many-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to-</a:t>
            </a:r>
            <a:r>
              <a:rPr sz="1350" spc="-110" dirty="0">
                <a:solidFill>
                  <a:srgbClr val="545759"/>
                </a:solidFill>
                <a:latin typeface="Verdana"/>
                <a:cs typeface="Verdana"/>
              </a:rPr>
              <a:t>many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relationships cleanly.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61062" y="5962332"/>
            <a:ext cx="2343150" cy="2438400"/>
          </a:xfrm>
          <a:custGeom>
            <a:avLst/>
            <a:gdLst/>
            <a:ahLst/>
            <a:cxnLst/>
            <a:rect l="l" t="t" r="r" b="b"/>
            <a:pathLst>
              <a:path w="2343150" h="2438400">
                <a:moveTo>
                  <a:pt x="0" y="2319337"/>
                </a:moveTo>
                <a:lnTo>
                  <a:pt x="0" y="119062"/>
                </a:lnTo>
                <a:lnTo>
                  <a:pt x="0" y="111239"/>
                </a:lnTo>
                <a:lnTo>
                  <a:pt x="762" y="103505"/>
                </a:lnTo>
                <a:lnTo>
                  <a:pt x="2286" y="95834"/>
                </a:lnTo>
                <a:lnTo>
                  <a:pt x="3810" y="88163"/>
                </a:lnTo>
                <a:lnTo>
                  <a:pt x="6070" y="80721"/>
                </a:lnTo>
                <a:lnTo>
                  <a:pt x="9067" y="73494"/>
                </a:lnTo>
                <a:lnTo>
                  <a:pt x="12052" y="66281"/>
                </a:lnTo>
                <a:lnTo>
                  <a:pt x="15722" y="59410"/>
                </a:lnTo>
                <a:lnTo>
                  <a:pt x="20066" y="52908"/>
                </a:lnTo>
                <a:lnTo>
                  <a:pt x="24409" y="46418"/>
                </a:lnTo>
                <a:lnTo>
                  <a:pt x="29349" y="40398"/>
                </a:lnTo>
                <a:lnTo>
                  <a:pt x="34874" y="34874"/>
                </a:lnTo>
                <a:lnTo>
                  <a:pt x="40398" y="29349"/>
                </a:lnTo>
                <a:lnTo>
                  <a:pt x="73494" y="9067"/>
                </a:lnTo>
                <a:lnTo>
                  <a:pt x="80721" y="6070"/>
                </a:lnTo>
                <a:lnTo>
                  <a:pt x="88163" y="3810"/>
                </a:lnTo>
                <a:lnTo>
                  <a:pt x="95834" y="2286"/>
                </a:lnTo>
                <a:lnTo>
                  <a:pt x="103505" y="762"/>
                </a:lnTo>
                <a:lnTo>
                  <a:pt x="111239" y="0"/>
                </a:lnTo>
                <a:lnTo>
                  <a:pt x="119062" y="0"/>
                </a:lnTo>
                <a:lnTo>
                  <a:pt x="2224087" y="0"/>
                </a:lnTo>
                <a:lnTo>
                  <a:pt x="2231910" y="0"/>
                </a:lnTo>
                <a:lnTo>
                  <a:pt x="2239645" y="762"/>
                </a:lnTo>
                <a:lnTo>
                  <a:pt x="2247315" y="2286"/>
                </a:lnTo>
                <a:lnTo>
                  <a:pt x="2254986" y="3810"/>
                </a:lnTo>
                <a:lnTo>
                  <a:pt x="2262428" y="6070"/>
                </a:lnTo>
                <a:lnTo>
                  <a:pt x="2269655" y="9067"/>
                </a:lnTo>
                <a:lnTo>
                  <a:pt x="2276868" y="12052"/>
                </a:lnTo>
                <a:lnTo>
                  <a:pt x="2283726" y="15722"/>
                </a:lnTo>
                <a:lnTo>
                  <a:pt x="2290229" y="20066"/>
                </a:lnTo>
                <a:lnTo>
                  <a:pt x="2296731" y="24409"/>
                </a:lnTo>
                <a:lnTo>
                  <a:pt x="2302751" y="29349"/>
                </a:lnTo>
                <a:lnTo>
                  <a:pt x="2308275" y="34874"/>
                </a:lnTo>
                <a:lnTo>
                  <a:pt x="2313800" y="40398"/>
                </a:lnTo>
                <a:lnTo>
                  <a:pt x="2334082" y="73494"/>
                </a:lnTo>
                <a:lnTo>
                  <a:pt x="2337079" y="80721"/>
                </a:lnTo>
                <a:lnTo>
                  <a:pt x="2339340" y="88163"/>
                </a:lnTo>
                <a:lnTo>
                  <a:pt x="2340864" y="95834"/>
                </a:lnTo>
                <a:lnTo>
                  <a:pt x="2342388" y="103505"/>
                </a:lnTo>
                <a:lnTo>
                  <a:pt x="2343150" y="111239"/>
                </a:lnTo>
                <a:lnTo>
                  <a:pt x="2343150" y="119062"/>
                </a:lnTo>
                <a:lnTo>
                  <a:pt x="2343150" y="2319337"/>
                </a:lnTo>
                <a:lnTo>
                  <a:pt x="2343150" y="2327155"/>
                </a:lnTo>
                <a:lnTo>
                  <a:pt x="2342388" y="2334895"/>
                </a:lnTo>
                <a:lnTo>
                  <a:pt x="2340864" y="2342564"/>
                </a:lnTo>
                <a:lnTo>
                  <a:pt x="2339340" y="2350229"/>
                </a:lnTo>
                <a:lnTo>
                  <a:pt x="2337079" y="2357675"/>
                </a:lnTo>
                <a:lnTo>
                  <a:pt x="2334082" y="2364898"/>
                </a:lnTo>
                <a:lnTo>
                  <a:pt x="2331097" y="2372121"/>
                </a:lnTo>
                <a:lnTo>
                  <a:pt x="2327427" y="2378983"/>
                </a:lnTo>
                <a:lnTo>
                  <a:pt x="2323084" y="2385481"/>
                </a:lnTo>
                <a:lnTo>
                  <a:pt x="2318740" y="2391985"/>
                </a:lnTo>
                <a:lnTo>
                  <a:pt x="2313800" y="2397997"/>
                </a:lnTo>
                <a:lnTo>
                  <a:pt x="2308275" y="2403524"/>
                </a:lnTo>
                <a:lnTo>
                  <a:pt x="2302751" y="2409056"/>
                </a:lnTo>
                <a:lnTo>
                  <a:pt x="2269655" y="2429336"/>
                </a:lnTo>
                <a:lnTo>
                  <a:pt x="2231910" y="2438400"/>
                </a:lnTo>
                <a:lnTo>
                  <a:pt x="2224087" y="2438400"/>
                </a:lnTo>
                <a:lnTo>
                  <a:pt x="119062" y="2438400"/>
                </a:lnTo>
                <a:lnTo>
                  <a:pt x="111239" y="2438400"/>
                </a:lnTo>
                <a:lnTo>
                  <a:pt x="103505" y="2437635"/>
                </a:lnTo>
                <a:lnTo>
                  <a:pt x="95834" y="2436112"/>
                </a:lnTo>
                <a:lnTo>
                  <a:pt x="88163" y="2434584"/>
                </a:lnTo>
                <a:lnTo>
                  <a:pt x="80721" y="2432328"/>
                </a:lnTo>
                <a:lnTo>
                  <a:pt x="73494" y="2429336"/>
                </a:lnTo>
                <a:lnTo>
                  <a:pt x="66268" y="2426345"/>
                </a:lnTo>
                <a:lnTo>
                  <a:pt x="34874" y="2403524"/>
                </a:lnTo>
                <a:lnTo>
                  <a:pt x="29349" y="2397997"/>
                </a:lnTo>
                <a:lnTo>
                  <a:pt x="24409" y="2391985"/>
                </a:lnTo>
                <a:lnTo>
                  <a:pt x="20066" y="2385481"/>
                </a:lnTo>
                <a:lnTo>
                  <a:pt x="15722" y="2378983"/>
                </a:lnTo>
                <a:lnTo>
                  <a:pt x="12052" y="2372121"/>
                </a:lnTo>
                <a:lnTo>
                  <a:pt x="9067" y="2364898"/>
                </a:lnTo>
                <a:lnTo>
                  <a:pt x="6070" y="2357675"/>
                </a:lnTo>
                <a:lnTo>
                  <a:pt x="3810" y="2350229"/>
                </a:lnTo>
                <a:lnTo>
                  <a:pt x="2286" y="2342564"/>
                </a:lnTo>
                <a:lnTo>
                  <a:pt x="762" y="2334895"/>
                </a:lnTo>
                <a:lnTo>
                  <a:pt x="0" y="2327155"/>
                </a:lnTo>
                <a:lnTo>
                  <a:pt x="0" y="2319337"/>
                </a:lnTo>
                <a:close/>
              </a:path>
            </a:pathLst>
          </a:custGeom>
          <a:ln w="19050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28892" y="6125844"/>
            <a:ext cx="1953260" cy="20650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535305">
              <a:lnSpc>
                <a:spcPct val="106100"/>
              </a:lnSpc>
              <a:spcBef>
                <a:spcPts val="15"/>
              </a:spcBef>
            </a:pPr>
            <a:r>
              <a:rPr sz="1650" spc="-45" dirty="0">
                <a:solidFill>
                  <a:srgbClr val="545759"/>
                </a:solidFill>
                <a:latin typeface="Verdana"/>
                <a:cs typeface="Verdana"/>
              </a:rPr>
              <a:t>Reservation</a:t>
            </a:r>
            <a:r>
              <a:rPr sz="1650" spc="-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545759"/>
                </a:solidFill>
                <a:latin typeface="Verdana"/>
                <a:cs typeface="Verdana"/>
              </a:rPr>
              <a:t>&amp;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Payment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100"/>
              </a:lnSpc>
              <a:spcBef>
                <a:spcPts val="1160"/>
              </a:spcBef>
            </a:pP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Reservations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link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guests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rooms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date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ranges.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Payments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track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status: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Pending,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Completed,</a:t>
            </a:r>
            <a:r>
              <a:rPr sz="1350" spc="-12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Refunded.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94712" y="5962332"/>
            <a:ext cx="2352675" cy="2438400"/>
          </a:xfrm>
          <a:custGeom>
            <a:avLst/>
            <a:gdLst/>
            <a:ahLst/>
            <a:cxnLst/>
            <a:rect l="l" t="t" r="r" b="b"/>
            <a:pathLst>
              <a:path w="2352675" h="2438400">
                <a:moveTo>
                  <a:pt x="0" y="2319337"/>
                </a:moveTo>
                <a:lnTo>
                  <a:pt x="0" y="119062"/>
                </a:lnTo>
                <a:lnTo>
                  <a:pt x="0" y="111239"/>
                </a:lnTo>
                <a:lnTo>
                  <a:pt x="762" y="103505"/>
                </a:lnTo>
                <a:lnTo>
                  <a:pt x="2286" y="95834"/>
                </a:lnTo>
                <a:lnTo>
                  <a:pt x="3810" y="88163"/>
                </a:lnTo>
                <a:lnTo>
                  <a:pt x="6070" y="80721"/>
                </a:lnTo>
                <a:lnTo>
                  <a:pt x="9067" y="73494"/>
                </a:lnTo>
                <a:lnTo>
                  <a:pt x="12052" y="66281"/>
                </a:lnTo>
                <a:lnTo>
                  <a:pt x="15722" y="59410"/>
                </a:lnTo>
                <a:lnTo>
                  <a:pt x="20066" y="52908"/>
                </a:lnTo>
                <a:lnTo>
                  <a:pt x="24409" y="46418"/>
                </a:lnTo>
                <a:lnTo>
                  <a:pt x="29349" y="40398"/>
                </a:lnTo>
                <a:lnTo>
                  <a:pt x="34874" y="34874"/>
                </a:lnTo>
                <a:lnTo>
                  <a:pt x="40398" y="29349"/>
                </a:lnTo>
                <a:lnTo>
                  <a:pt x="73494" y="9067"/>
                </a:lnTo>
                <a:lnTo>
                  <a:pt x="80721" y="6070"/>
                </a:lnTo>
                <a:lnTo>
                  <a:pt x="88163" y="3810"/>
                </a:lnTo>
                <a:lnTo>
                  <a:pt x="95834" y="2286"/>
                </a:lnTo>
                <a:lnTo>
                  <a:pt x="103505" y="762"/>
                </a:lnTo>
                <a:lnTo>
                  <a:pt x="111239" y="0"/>
                </a:lnTo>
                <a:lnTo>
                  <a:pt x="119062" y="0"/>
                </a:lnTo>
                <a:lnTo>
                  <a:pt x="2233612" y="0"/>
                </a:lnTo>
                <a:lnTo>
                  <a:pt x="2241435" y="0"/>
                </a:lnTo>
                <a:lnTo>
                  <a:pt x="2249170" y="762"/>
                </a:lnTo>
                <a:lnTo>
                  <a:pt x="2256840" y="2286"/>
                </a:lnTo>
                <a:lnTo>
                  <a:pt x="2264511" y="3810"/>
                </a:lnTo>
                <a:lnTo>
                  <a:pt x="2271953" y="6070"/>
                </a:lnTo>
                <a:lnTo>
                  <a:pt x="2279180" y="9067"/>
                </a:lnTo>
                <a:lnTo>
                  <a:pt x="2286393" y="12052"/>
                </a:lnTo>
                <a:lnTo>
                  <a:pt x="2293251" y="15722"/>
                </a:lnTo>
                <a:lnTo>
                  <a:pt x="2299754" y="20066"/>
                </a:lnTo>
                <a:lnTo>
                  <a:pt x="2306256" y="24409"/>
                </a:lnTo>
                <a:lnTo>
                  <a:pt x="2332609" y="52908"/>
                </a:lnTo>
                <a:lnTo>
                  <a:pt x="2343607" y="73494"/>
                </a:lnTo>
                <a:lnTo>
                  <a:pt x="2346604" y="80721"/>
                </a:lnTo>
                <a:lnTo>
                  <a:pt x="2348865" y="88163"/>
                </a:lnTo>
                <a:lnTo>
                  <a:pt x="2350389" y="95834"/>
                </a:lnTo>
                <a:lnTo>
                  <a:pt x="2351913" y="103505"/>
                </a:lnTo>
                <a:lnTo>
                  <a:pt x="2352675" y="111239"/>
                </a:lnTo>
                <a:lnTo>
                  <a:pt x="2352675" y="119062"/>
                </a:lnTo>
                <a:lnTo>
                  <a:pt x="2352675" y="2319337"/>
                </a:lnTo>
                <a:lnTo>
                  <a:pt x="2352675" y="2327155"/>
                </a:lnTo>
                <a:lnTo>
                  <a:pt x="2351913" y="2334895"/>
                </a:lnTo>
                <a:lnTo>
                  <a:pt x="2350389" y="2342564"/>
                </a:lnTo>
                <a:lnTo>
                  <a:pt x="2348865" y="2350229"/>
                </a:lnTo>
                <a:lnTo>
                  <a:pt x="2346604" y="2357675"/>
                </a:lnTo>
                <a:lnTo>
                  <a:pt x="2343607" y="2364898"/>
                </a:lnTo>
                <a:lnTo>
                  <a:pt x="2340622" y="2372121"/>
                </a:lnTo>
                <a:lnTo>
                  <a:pt x="2336952" y="2378983"/>
                </a:lnTo>
                <a:lnTo>
                  <a:pt x="2332609" y="2385481"/>
                </a:lnTo>
                <a:lnTo>
                  <a:pt x="2328265" y="2391985"/>
                </a:lnTo>
                <a:lnTo>
                  <a:pt x="2323325" y="2397997"/>
                </a:lnTo>
                <a:lnTo>
                  <a:pt x="2317800" y="2403524"/>
                </a:lnTo>
                <a:lnTo>
                  <a:pt x="2312276" y="2409056"/>
                </a:lnTo>
                <a:lnTo>
                  <a:pt x="2279180" y="2429336"/>
                </a:lnTo>
                <a:lnTo>
                  <a:pt x="2241435" y="2438400"/>
                </a:lnTo>
                <a:lnTo>
                  <a:pt x="2233612" y="2438400"/>
                </a:lnTo>
                <a:lnTo>
                  <a:pt x="119062" y="2438400"/>
                </a:lnTo>
                <a:lnTo>
                  <a:pt x="111239" y="2438400"/>
                </a:lnTo>
                <a:lnTo>
                  <a:pt x="103505" y="2437635"/>
                </a:lnTo>
                <a:lnTo>
                  <a:pt x="95834" y="2436112"/>
                </a:lnTo>
                <a:lnTo>
                  <a:pt x="88163" y="2434584"/>
                </a:lnTo>
                <a:lnTo>
                  <a:pt x="80721" y="2432328"/>
                </a:lnTo>
                <a:lnTo>
                  <a:pt x="73494" y="2429336"/>
                </a:lnTo>
                <a:lnTo>
                  <a:pt x="66268" y="2426345"/>
                </a:lnTo>
                <a:lnTo>
                  <a:pt x="34874" y="2403524"/>
                </a:lnTo>
                <a:lnTo>
                  <a:pt x="29349" y="2397997"/>
                </a:lnTo>
                <a:lnTo>
                  <a:pt x="24409" y="2391985"/>
                </a:lnTo>
                <a:lnTo>
                  <a:pt x="20066" y="2385481"/>
                </a:lnTo>
                <a:lnTo>
                  <a:pt x="15722" y="2378983"/>
                </a:lnTo>
                <a:lnTo>
                  <a:pt x="12052" y="2372121"/>
                </a:lnTo>
                <a:lnTo>
                  <a:pt x="9067" y="2364898"/>
                </a:lnTo>
                <a:lnTo>
                  <a:pt x="6070" y="2357675"/>
                </a:lnTo>
                <a:lnTo>
                  <a:pt x="3810" y="2350229"/>
                </a:lnTo>
                <a:lnTo>
                  <a:pt x="2286" y="2342564"/>
                </a:lnTo>
                <a:lnTo>
                  <a:pt x="762" y="2334895"/>
                </a:lnTo>
                <a:lnTo>
                  <a:pt x="0" y="2327155"/>
                </a:lnTo>
                <a:lnTo>
                  <a:pt x="0" y="2319337"/>
                </a:lnTo>
                <a:close/>
              </a:path>
            </a:pathLst>
          </a:custGeom>
          <a:ln w="19050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67457" y="6125844"/>
            <a:ext cx="1856105" cy="152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Review</a:t>
            </a:r>
            <a:endParaRPr sz="1650">
              <a:latin typeface="Verdana"/>
              <a:cs typeface="Verdana"/>
            </a:endParaRPr>
          </a:p>
          <a:p>
            <a:pPr marL="12700" marR="5080" algn="just">
              <a:lnSpc>
                <a:spcPct val="132700"/>
              </a:lnSpc>
              <a:spcBef>
                <a:spcPts val="1165"/>
              </a:spcBef>
            </a:pP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Guest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feedback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tied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 to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reservations,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enabling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verified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10" dirty="0">
                <a:solidFill>
                  <a:srgbClr val="545759"/>
                </a:solidFill>
                <a:latin typeface="Verdana"/>
                <a:cs typeface="Verdana"/>
              </a:rPr>
              <a:t>review</a:t>
            </a:r>
            <a:r>
              <a:rPr sz="1350" spc="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data</a:t>
            </a:r>
            <a:r>
              <a:rPr sz="1350" spc="1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per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hotel.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844550"/>
            <a:ext cx="375666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Hotel</a:t>
            </a:r>
            <a:r>
              <a:rPr spc="-229" dirty="0"/>
              <a:t> </a:t>
            </a:r>
            <a:r>
              <a:rPr spc="-20" dirty="0"/>
              <a:t>Module</a:t>
            </a:r>
            <a:r>
              <a:rPr spc="-229" dirty="0"/>
              <a:t> </a:t>
            </a:r>
            <a:r>
              <a:rPr spc="-35" dirty="0"/>
              <a:t>APIs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4" y="1758950"/>
            <a:ext cx="99174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module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exposes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complete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RESTful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interface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managing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records,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including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search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filtering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capabilities.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7112" y="3214687"/>
            <a:ext cx="5019675" cy="1000125"/>
          </a:xfrm>
          <a:custGeom>
            <a:avLst/>
            <a:gdLst/>
            <a:ahLst/>
            <a:cxnLst/>
            <a:rect l="l" t="t" r="r" b="b"/>
            <a:pathLst>
              <a:path w="5019675" h="1000125">
                <a:moveTo>
                  <a:pt x="0" y="876299"/>
                </a:moveTo>
                <a:lnTo>
                  <a:pt x="0" y="123824"/>
                </a:lnTo>
                <a:lnTo>
                  <a:pt x="0" y="115694"/>
                </a:lnTo>
                <a:lnTo>
                  <a:pt x="793" y="107641"/>
                </a:lnTo>
                <a:lnTo>
                  <a:pt x="2379" y="99667"/>
                </a:lnTo>
                <a:lnTo>
                  <a:pt x="3965" y="91693"/>
                </a:lnTo>
                <a:lnTo>
                  <a:pt x="6314" y="83950"/>
                </a:lnTo>
                <a:lnTo>
                  <a:pt x="25385" y="48271"/>
                </a:lnTo>
                <a:lnTo>
                  <a:pt x="55031" y="20868"/>
                </a:lnTo>
                <a:lnTo>
                  <a:pt x="61791" y="16351"/>
                </a:lnTo>
                <a:lnTo>
                  <a:pt x="99667" y="2379"/>
                </a:lnTo>
                <a:lnTo>
                  <a:pt x="115694" y="0"/>
                </a:lnTo>
                <a:lnTo>
                  <a:pt x="123825" y="0"/>
                </a:lnTo>
                <a:lnTo>
                  <a:pt x="4895849" y="0"/>
                </a:lnTo>
                <a:lnTo>
                  <a:pt x="4903979" y="0"/>
                </a:lnTo>
                <a:lnTo>
                  <a:pt x="4912031" y="793"/>
                </a:lnTo>
                <a:lnTo>
                  <a:pt x="4950746" y="12536"/>
                </a:lnTo>
                <a:lnTo>
                  <a:pt x="4964641" y="20868"/>
                </a:lnTo>
                <a:lnTo>
                  <a:pt x="4971402" y="25385"/>
                </a:lnTo>
                <a:lnTo>
                  <a:pt x="4977657" y="30518"/>
                </a:lnTo>
                <a:lnTo>
                  <a:pt x="4983406" y="36267"/>
                </a:lnTo>
                <a:lnTo>
                  <a:pt x="4989155" y="42016"/>
                </a:lnTo>
                <a:lnTo>
                  <a:pt x="5010247" y="76438"/>
                </a:lnTo>
                <a:lnTo>
                  <a:pt x="5013359" y="83950"/>
                </a:lnTo>
                <a:lnTo>
                  <a:pt x="5015708" y="91693"/>
                </a:lnTo>
                <a:lnTo>
                  <a:pt x="5017294" y="99667"/>
                </a:lnTo>
                <a:lnTo>
                  <a:pt x="5018881" y="107641"/>
                </a:lnTo>
                <a:lnTo>
                  <a:pt x="5019674" y="115694"/>
                </a:lnTo>
                <a:lnTo>
                  <a:pt x="5019674" y="123824"/>
                </a:lnTo>
                <a:lnTo>
                  <a:pt x="5019674" y="876299"/>
                </a:lnTo>
                <a:lnTo>
                  <a:pt x="5019674" y="884430"/>
                </a:lnTo>
                <a:lnTo>
                  <a:pt x="5018881" y="892482"/>
                </a:lnTo>
                <a:lnTo>
                  <a:pt x="5017294" y="900456"/>
                </a:lnTo>
                <a:lnTo>
                  <a:pt x="5015708" y="908431"/>
                </a:lnTo>
                <a:lnTo>
                  <a:pt x="5013359" y="916173"/>
                </a:lnTo>
                <a:lnTo>
                  <a:pt x="5010247" y="923685"/>
                </a:lnTo>
                <a:lnTo>
                  <a:pt x="5007137" y="931196"/>
                </a:lnTo>
                <a:lnTo>
                  <a:pt x="4983406" y="963857"/>
                </a:lnTo>
                <a:lnTo>
                  <a:pt x="4964641" y="979256"/>
                </a:lnTo>
                <a:lnTo>
                  <a:pt x="4957881" y="983773"/>
                </a:lnTo>
                <a:lnTo>
                  <a:pt x="4920006" y="997745"/>
                </a:lnTo>
                <a:lnTo>
                  <a:pt x="4895849" y="1000124"/>
                </a:lnTo>
                <a:lnTo>
                  <a:pt x="123825" y="1000124"/>
                </a:lnTo>
                <a:lnTo>
                  <a:pt x="115694" y="1000124"/>
                </a:lnTo>
                <a:lnTo>
                  <a:pt x="107642" y="999331"/>
                </a:lnTo>
                <a:lnTo>
                  <a:pt x="99667" y="997745"/>
                </a:lnTo>
                <a:lnTo>
                  <a:pt x="91693" y="996159"/>
                </a:lnTo>
                <a:lnTo>
                  <a:pt x="55031" y="979256"/>
                </a:lnTo>
                <a:lnTo>
                  <a:pt x="25385" y="951853"/>
                </a:lnTo>
                <a:lnTo>
                  <a:pt x="9425" y="923685"/>
                </a:lnTo>
                <a:lnTo>
                  <a:pt x="6314" y="916173"/>
                </a:lnTo>
                <a:lnTo>
                  <a:pt x="3965" y="908431"/>
                </a:lnTo>
                <a:lnTo>
                  <a:pt x="2379" y="900456"/>
                </a:lnTo>
                <a:lnTo>
                  <a:pt x="793" y="892482"/>
                </a:lnTo>
                <a:lnTo>
                  <a:pt x="0" y="884430"/>
                </a:lnTo>
                <a:lnTo>
                  <a:pt x="0" y="876299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0624" y="3373437"/>
            <a:ext cx="341376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GET</a:t>
            </a:r>
            <a:r>
              <a:rPr sz="1650" spc="-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/api/hotels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Retrieve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all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hotels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optional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pagination.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30684" y="3214687"/>
            <a:ext cx="5019675" cy="1000125"/>
          </a:xfrm>
          <a:custGeom>
            <a:avLst/>
            <a:gdLst/>
            <a:ahLst/>
            <a:cxnLst/>
            <a:rect l="l" t="t" r="r" b="b"/>
            <a:pathLst>
              <a:path w="5019675" h="1000125">
                <a:moveTo>
                  <a:pt x="0" y="876299"/>
                </a:moveTo>
                <a:lnTo>
                  <a:pt x="0" y="123824"/>
                </a:lnTo>
                <a:lnTo>
                  <a:pt x="0" y="115694"/>
                </a:lnTo>
                <a:lnTo>
                  <a:pt x="792" y="107641"/>
                </a:lnTo>
                <a:lnTo>
                  <a:pt x="2378" y="99667"/>
                </a:lnTo>
                <a:lnTo>
                  <a:pt x="3965" y="91693"/>
                </a:lnTo>
                <a:lnTo>
                  <a:pt x="6314" y="83950"/>
                </a:lnTo>
                <a:lnTo>
                  <a:pt x="9425" y="76438"/>
                </a:lnTo>
                <a:lnTo>
                  <a:pt x="12536" y="68927"/>
                </a:lnTo>
                <a:lnTo>
                  <a:pt x="36267" y="36267"/>
                </a:lnTo>
                <a:lnTo>
                  <a:pt x="42016" y="30518"/>
                </a:lnTo>
                <a:lnTo>
                  <a:pt x="48270" y="25385"/>
                </a:lnTo>
                <a:lnTo>
                  <a:pt x="55031" y="20868"/>
                </a:lnTo>
                <a:lnTo>
                  <a:pt x="61790" y="16351"/>
                </a:lnTo>
                <a:lnTo>
                  <a:pt x="99667" y="2379"/>
                </a:lnTo>
                <a:lnTo>
                  <a:pt x="115695" y="0"/>
                </a:lnTo>
                <a:lnTo>
                  <a:pt x="123825" y="0"/>
                </a:lnTo>
                <a:lnTo>
                  <a:pt x="4895850" y="0"/>
                </a:lnTo>
                <a:lnTo>
                  <a:pt x="4903981" y="0"/>
                </a:lnTo>
                <a:lnTo>
                  <a:pt x="4912032" y="793"/>
                </a:lnTo>
                <a:lnTo>
                  <a:pt x="4920006" y="2379"/>
                </a:lnTo>
                <a:lnTo>
                  <a:pt x="4927981" y="3965"/>
                </a:lnTo>
                <a:lnTo>
                  <a:pt x="4935724" y="6314"/>
                </a:lnTo>
                <a:lnTo>
                  <a:pt x="4943234" y="9425"/>
                </a:lnTo>
                <a:lnTo>
                  <a:pt x="4950746" y="12536"/>
                </a:lnTo>
                <a:lnTo>
                  <a:pt x="4983406" y="36267"/>
                </a:lnTo>
                <a:lnTo>
                  <a:pt x="4998805" y="55031"/>
                </a:lnTo>
                <a:lnTo>
                  <a:pt x="5003322" y="61791"/>
                </a:lnTo>
                <a:lnTo>
                  <a:pt x="5017295" y="99667"/>
                </a:lnTo>
                <a:lnTo>
                  <a:pt x="5019675" y="123824"/>
                </a:lnTo>
                <a:lnTo>
                  <a:pt x="5019675" y="876299"/>
                </a:lnTo>
                <a:lnTo>
                  <a:pt x="5013359" y="916173"/>
                </a:lnTo>
                <a:lnTo>
                  <a:pt x="5010247" y="923685"/>
                </a:lnTo>
                <a:lnTo>
                  <a:pt x="5007136" y="931196"/>
                </a:lnTo>
                <a:lnTo>
                  <a:pt x="5003322" y="938333"/>
                </a:lnTo>
                <a:lnTo>
                  <a:pt x="4998805" y="945093"/>
                </a:lnTo>
                <a:lnTo>
                  <a:pt x="4994288" y="951853"/>
                </a:lnTo>
                <a:lnTo>
                  <a:pt x="4964642" y="979256"/>
                </a:lnTo>
                <a:lnTo>
                  <a:pt x="4943234" y="990699"/>
                </a:lnTo>
                <a:lnTo>
                  <a:pt x="4935724" y="993810"/>
                </a:lnTo>
                <a:lnTo>
                  <a:pt x="4927981" y="996159"/>
                </a:lnTo>
                <a:lnTo>
                  <a:pt x="4920006" y="997745"/>
                </a:lnTo>
                <a:lnTo>
                  <a:pt x="4912032" y="999331"/>
                </a:lnTo>
                <a:lnTo>
                  <a:pt x="4903981" y="1000124"/>
                </a:lnTo>
                <a:lnTo>
                  <a:pt x="4895850" y="1000124"/>
                </a:lnTo>
                <a:lnTo>
                  <a:pt x="123825" y="1000124"/>
                </a:lnTo>
                <a:lnTo>
                  <a:pt x="115695" y="1000124"/>
                </a:lnTo>
                <a:lnTo>
                  <a:pt x="107642" y="999331"/>
                </a:lnTo>
                <a:lnTo>
                  <a:pt x="99667" y="997745"/>
                </a:lnTo>
                <a:lnTo>
                  <a:pt x="91693" y="996159"/>
                </a:lnTo>
                <a:lnTo>
                  <a:pt x="55031" y="979256"/>
                </a:lnTo>
                <a:lnTo>
                  <a:pt x="48270" y="974739"/>
                </a:lnTo>
                <a:lnTo>
                  <a:pt x="20867" y="945093"/>
                </a:lnTo>
                <a:lnTo>
                  <a:pt x="9425" y="923685"/>
                </a:lnTo>
                <a:lnTo>
                  <a:pt x="6314" y="916173"/>
                </a:lnTo>
                <a:lnTo>
                  <a:pt x="3965" y="908431"/>
                </a:lnTo>
                <a:lnTo>
                  <a:pt x="2378" y="900456"/>
                </a:lnTo>
                <a:lnTo>
                  <a:pt x="792" y="892482"/>
                </a:lnTo>
                <a:lnTo>
                  <a:pt x="0" y="884430"/>
                </a:lnTo>
                <a:lnTo>
                  <a:pt x="0" y="876299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94197" y="3373437"/>
            <a:ext cx="3368040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GET</a:t>
            </a:r>
            <a:r>
              <a:rPr sz="1650" spc="-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35" dirty="0">
                <a:solidFill>
                  <a:srgbClr val="545759"/>
                </a:solidFill>
                <a:latin typeface="Verdana"/>
                <a:cs typeface="Verdana"/>
              </a:rPr>
              <a:t>/api/hotels/{id3</a:t>
            </a:r>
            <a:endParaRPr sz="16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Fetch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single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by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its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unique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identifier.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4837" y="5362257"/>
            <a:ext cx="5019675" cy="1000125"/>
          </a:xfrm>
          <a:custGeom>
            <a:avLst/>
            <a:gdLst/>
            <a:ahLst/>
            <a:cxnLst/>
            <a:rect l="l" t="t" r="r" b="b"/>
            <a:pathLst>
              <a:path w="5019675" h="1000125">
                <a:moveTo>
                  <a:pt x="0" y="876299"/>
                </a:moveTo>
                <a:lnTo>
                  <a:pt x="0" y="123824"/>
                </a:lnTo>
                <a:lnTo>
                  <a:pt x="0" y="115694"/>
                </a:lnTo>
                <a:lnTo>
                  <a:pt x="793" y="107641"/>
                </a:lnTo>
                <a:lnTo>
                  <a:pt x="2379" y="99667"/>
                </a:lnTo>
                <a:lnTo>
                  <a:pt x="3965" y="91693"/>
                </a:lnTo>
                <a:lnTo>
                  <a:pt x="6314" y="83950"/>
                </a:lnTo>
                <a:lnTo>
                  <a:pt x="9425" y="76438"/>
                </a:lnTo>
                <a:lnTo>
                  <a:pt x="12536" y="68927"/>
                </a:lnTo>
                <a:lnTo>
                  <a:pt x="16351" y="61791"/>
                </a:lnTo>
                <a:lnTo>
                  <a:pt x="20868" y="55031"/>
                </a:lnTo>
                <a:lnTo>
                  <a:pt x="25385" y="48270"/>
                </a:lnTo>
                <a:lnTo>
                  <a:pt x="30518" y="42016"/>
                </a:lnTo>
                <a:lnTo>
                  <a:pt x="36267" y="36267"/>
                </a:lnTo>
                <a:lnTo>
                  <a:pt x="42016" y="30518"/>
                </a:lnTo>
                <a:lnTo>
                  <a:pt x="76439" y="9425"/>
                </a:lnTo>
                <a:lnTo>
                  <a:pt x="99667" y="2379"/>
                </a:lnTo>
                <a:lnTo>
                  <a:pt x="107642" y="792"/>
                </a:lnTo>
                <a:lnTo>
                  <a:pt x="115694" y="0"/>
                </a:lnTo>
                <a:lnTo>
                  <a:pt x="123825" y="0"/>
                </a:lnTo>
                <a:lnTo>
                  <a:pt x="4895849" y="0"/>
                </a:lnTo>
                <a:lnTo>
                  <a:pt x="4903979" y="0"/>
                </a:lnTo>
                <a:lnTo>
                  <a:pt x="4912031" y="792"/>
                </a:lnTo>
                <a:lnTo>
                  <a:pt x="4950746" y="12536"/>
                </a:lnTo>
                <a:lnTo>
                  <a:pt x="4964641" y="20868"/>
                </a:lnTo>
                <a:lnTo>
                  <a:pt x="4971402" y="25385"/>
                </a:lnTo>
                <a:lnTo>
                  <a:pt x="4977657" y="30518"/>
                </a:lnTo>
                <a:lnTo>
                  <a:pt x="4983406" y="36267"/>
                </a:lnTo>
                <a:lnTo>
                  <a:pt x="4989155" y="42016"/>
                </a:lnTo>
                <a:lnTo>
                  <a:pt x="5010247" y="76438"/>
                </a:lnTo>
                <a:lnTo>
                  <a:pt x="5013359" y="83950"/>
                </a:lnTo>
                <a:lnTo>
                  <a:pt x="5015708" y="91693"/>
                </a:lnTo>
                <a:lnTo>
                  <a:pt x="5017294" y="99667"/>
                </a:lnTo>
                <a:lnTo>
                  <a:pt x="5018881" y="107641"/>
                </a:lnTo>
                <a:lnTo>
                  <a:pt x="5019674" y="115694"/>
                </a:lnTo>
                <a:lnTo>
                  <a:pt x="5019674" y="123824"/>
                </a:lnTo>
                <a:lnTo>
                  <a:pt x="5019674" y="876299"/>
                </a:lnTo>
                <a:lnTo>
                  <a:pt x="5019674" y="884430"/>
                </a:lnTo>
                <a:lnTo>
                  <a:pt x="5018881" y="892482"/>
                </a:lnTo>
                <a:lnTo>
                  <a:pt x="5017294" y="900456"/>
                </a:lnTo>
                <a:lnTo>
                  <a:pt x="5015708" y="908430"/>
                </a:lnTo>
                <a:lnTo>
                  <a:pt x="5013359" y="916173"/>
                </a:lnTo>
                <a:lnTo>
                  <a:pt x="5010247" y="923685"/>
                </a:lnTo>
                <a:lnTo>
                  <a:pt x="5007137" y="931196"/>
                </a:lnTo>
                <a:lnTo>
                  <a:pt x="4983406" y="963857"/>
                </a:lnTo>
                <a:lnTo>
                  <a:pt x="4977657" y="969606"/>
                </a:lnTo>
                <a:lnTo>
                  <a:pt x="4971402" y="974739"/>
                </a:lnTo>
                <a:lnTo>
                  <a:pt x="4964641" y="979256"/>
                </a:lnTo>
                <a:lnTo>
                  <a:pt x="4957881" y="983773"/>
                </a:lnTo>
                <a:lnTo>
                  <a:pt x="4950746" y="987587"/>
                </a:lnTo>
                <a:lnTo>
                  <a:pt x="4943234" y="990698"/>
                </a:lnTo>
                <a:lnTo>
                  <a:pt x="4935722" y="993809"/>
                </a:lnTo>
                <a:lnTo>
                  <a:pt x="4895849" y="1000124"/>
                </a:lnTo>
                <a:lnTo>
                  <a:pt x="123825" y="1000124"/>
                </a:lnTo>
                <a:lnTo>
                  <a:pt x="115694" y="1000124"/>
                </a:lnTo>
                <a:lnTo>
                  <a:pt x="107642" y="999331"/>
                </a:lnTo>
                <a:lnTo>
                  <a:pt x="99667" y="997745"/>
                </a:lnTo>
                <a:lnTo>
                  <a:pt x="91693" y="996158"/>
                </a:lnTo>
                <a:lnTo>
                  <a:pt x="55031" y="979256"/>
                </a:lnTo>
                <a:lnTo>
                  <a:pt x="48271" y="974739"/>
                </a:lnTo>
                <a:lnTo>
                  <a:pt x="42016" y="969606"/>
                </a:lnTo>
                <a:lnTo>
                  <a:pt x="36267" y="963857"/>
                </a:lnTo>
                <a:lnTo>
                  <a:pt x="30518" y="958108"/>
                </a:lnTo>
                <a:lnTo>
                  <a:pt x="9425" y="923685"/>
                </a:lnTo>
                <a:lnTo>
                  <a:pt x="6314" y="916173"/>
                </a:lnTo>
                <a:lnTo>
                  <a:pt x="3965" y="908430"/>
                </a:lnTo>
                <a:lnTo>
                  <a:pt x="2379" y="900456"/>
                </a:lnTo>
                <a:lnTo>
                  <a:pt x="793" y="892482"/>
                </a:lnTo>
                <a:lnTo>
                  <a:pt x="0" y="884430"/>
                </a:lnTo>
                <a:lnTo>
                  <a:pt x="0" y="876299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8349" y="5521007"/>
            <a:ext cx="4256405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POST</a:t>
            </a:r>
            <a:r>
              <a:rPr sz="1650" spc="-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/api/hotels</a:t>
            </a:r>
            <a:endParaRPr sz="16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Create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new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record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validated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5" dirty="0">
                <a:solidFill>
                  <a:srgbClr val="545759"/>
                </a:solidFill>
                <a:latin typeface="Verdana"/>
                <a:cs typeface="Verdana"/>
              </a:rPr>
              <a:t>DTO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payload.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08913" y="5303837"/>
            <a:ext cx="5019675" cy="1000125"/>
          </a:xfrm>
          <a:custGeom>
            <a:avLst/>
            <a:gdLst/>
            <a:ahLst/>
            <a:cxnLst/>
            <a:rect l="l" t="t" r="r" b="b"/>
            <a:pathLst>
              <a:path w="5019675" h="1000125">
                <a:moveTo>
                  <a:pt x="0" y="876299"/>
                </a:moveTo>
                <a:lnTo>
                  <a:pt x="0" y="123824"/>
                </a:lnTo>
                <a:lnTo>
                  <a:pt x="0" y="115694"/>
                </a:lnTo>
                <a:lnTo>
                  <a:pt x="792" y="107641"/>
                </a:lnTo>
                <a:lnTo>
                  <a:pt x="12536" y="68927"/>
                </a:lnTo>
                <a:lnTo>
                  <a:pt x="36267" y="36267"/>
                </a:lnTo>
                <a:lnTo>
                  <a:pt x="42016" y="30518"/>
                </a:lnTo>
                <a:lnTo>
                  <a:pt x="48270" y="25385"/>
                </a:lnTo>
                <a:lnTo>
                  <a:pt x="55031" y="20867"/>
                </a:lnTo>
                <a:lnTo>
                  <a:pt x="61790" y="16350"/>
                </a:lnTo>
                <a:lnTo>
                  <a:pt x="99667" y="2379"/>
                </a:lnTo>
                <a:lnTo>
                  <a:pt x="107642" y="792"/>
                </a:lnTo>
                <a:lnTo>
                  <a:pt x="115695" y="0"/>
                </a:lnTo>
                <a:lnTo>
                  <a:pt x="123825" y="0"/>
                </a:lnTo>
                <a:lnTo>
                  <a:pt x="4895850" y="0"/>
                </a:lnTo>
                <a:lnTo>
                  <a:pt x="4903981" y="0"/>
                </a:lnTo>
                <a:lnTo>
                  <a:pt x="4912032" y="792"/>
                </a:lnTo>
                <a:lnTo>
                  <a:pt x="4920006" y="2379"/>
                </a:lnTo>
                <a:lnTo>
                  <a:pt x="4927981" y="3965"/>
                </a:lnTo>
                <a:lnTo>
                  <a:pt x="4935724" y="6314"/>
                </a:lnTo>
                <a:lnTo>
                  <a:pt x="4943234" y="9425"/>
                </a:lnTo>
                <a:lnTo>
                  <a:pt x="4950746" y="12536"/>
                </a:lnTo>
                <a:lnTo>
                  <a:pt x="4983406" y="36267"/>
                </a:lnTo>
                <a:lnTo>
                  <a:pt x="4989156" y="42016"/>
                </a:lnTo>
                <a:lnTo>
                  <a:pt x="5010247" y="76438"/>
                </a:lnTo>
                <a:lnTo>
                  <a:pt x="5019674" y="115694"/>
                </a:lnTo>
                <a:lnTo>
                  <a:pt x="5019675" y="123824"/>
                </a:lnTo>
                <a:lnTo>
                  <a:pt x="5019675" y="876299"/>
                </a:lnTo>
                <a:lnTo>
                  <a:pt x="5013359" y="916173"/>
                </a:lnTo>
                <a:lnTo>
                  <a:pt x="5010247" y="923685"/>
                </a:lnTo>
                <a:lnTo>
                  <a:pt x="5007136" y="931196"/>
                </a:lnTo>
                <a:lnTo>
                  <a:pt x="5003322" y="938332"/>
                </a:lnTo>
                <a:lnTo>
                  <a:pt x="4998805" y="945092"/>
                </a:lnTo>
                <a:lnTo>
                  <a:pt x="4994288" y="951853"/>
                </a:lnTo>
                <a:lnTo>
                  <a:pt x="4989156" y="958108"/>
                </a:lnTo>
                <a:lnTo>
                  <a:pt x="4983406" y="963857"/>
                </a:lnTo>
                <a:lnTo>
                  <a:pt x="4977656" y="969606"/>
                </a:lnTo>
                <a:lnTo>
                  <a:pt x="4943234" y="990698"/>
                </a:lnTo>
                <a:lnTo>
                  <a:pt x="4935724" y="993809"/>
                </a:lnTo>
                <a:lnTo>
                  <a:pt x="4895850" y="1000124"/>
                </a:lnTo>
                <a:lnTo>
                  <a:pt x="123825" y="1000124"/>
                </a:lnTo>
                <a:lnTo>
                  <a:pt x="115695" y="1000124"/>
                </a:lnTo>
                <a:lnTo>
                  <a:pt x="107642" y="999331"/>
                </a:lnTo>
                <a:lnTo>
                  <a:pt x="99667" y="997745"/>
                </a:lnTo>
                <a:lnTo>
                  <a:pt x="91693" y="996158"/>
                </a:lnTo>
                <a:lnTo>
                  <a:pt x="55031" y="979256"/>
                </a:lnTo>
                <a:lnTo>
                  <a:pt x="48270" y="974739"/>
                </a:lnTo>
                <a:lnTo>
                  <a:pt x="42016" y="969606"/>
                </a:lnTo>
                <a:lnTo>
                  <a:pt x="36267" y="963857"/>
                </a:lnTo>
                <a:lnTo>
                  <a:pt x="30518" y="958108"/>
                </a:lnTo>
                <a:lnTo>
                  <a:pt x="9425" y="923685"/>
                </a:lnTo>
                <a:lnTo>
                  <a:pt x="6314" y="916173"/>
                </a:lnTo>
                <a:lnTo>
                  <a:pt x="3965" y="908430"/>
                </a:lnTo>
                <a:lnTo>
                  <a:pt x="2378" y="900456"/>
                </a:lnTo>
                <a:lnTo>
                  <a:pt x="792" y="892482"/>
                </a:lnTo>
                <a:lnTo>
                  <a:pt x="0" y="884430"/>
                </a:lnTo>
                <a:lnTo>
                  <a:pt x="0" y="876299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72426" y="5462587"/>
            <a:ext cx="3043555" cy="6362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60" dirty="0">
                <a:solidFill>
                  <a:srgbClr val="545759"/>
                </a:solidFill>
                <a:latin typeface="Verdana"/>
                <a:cs typeface="Verdana"/>
              </a:rPr>
              <a:t>PUT</a:t>
            </a:r>
            <a:r>
              <a:rPr sz="1650" spc="-10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35" dirty="0">
                <a:solidFill>
                  <a:srgbClr val="545759"/>
                </a:solidFill>
                <a:latin typeface="Verdana"/>
                <a:cs typeface="Verdana"/>
              </a:rPr>
              <a:t>/api/hotels/{id3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Fully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update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existing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hotel's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details.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04837" y="7785100"/>
            <a:ext cx="5019675" cy="990600"/>
          </a:xfrm>
          <a:custGeom>
            <a:avLst/>
            <a:gdLst/>
            <a:ahLst/>
            <a:cxnLst/>
            <a:rect l="l" t="t" r="r" b="b"/>
            <a:pathLst>
              <a:path w="5019675" h="990600">
                <a:moveTo>
                  <a:pt x="0" y="866774"/>
                </a:moveTo>
                <a:lnTo>
                  <a:pt x="0" y="123824"/>
                </a:lnTo>
                <a:lnTo>
                  <a:pt x="0" y="115694"/>
                </a:lnTo>
                <a:lnTo>
                  <a:pt x="793" y="107641"/>
                </a:lnTo>
                <a:lnTo>
                  <a:pt x="2379" y="99667"/>
                </a:lnTo>
                <a:lnTo>
                  <a:pt x="3965" y="91693"/>
                </a:lnTo>
                <a:lnTo>
                  <a:pt x="6314" y="83950"/>
                </a:lnTo>
                <a:lnTo>
                  <a:pt x="9425" y="76438"/>
                </a:lnTo>
                <a:lnTo>
                  <a:pt x="12536" y="68926"/>
                </a:lnTo>
                <a:lnTo>
                  <a:pt x="16351" y="61790"/>
                </a:lnTo>
                <a:lnTo>
                  <a:pt x="20868" y="55031"/>
                </a:lnTo>
                <a:lnTo>
                  <a:pt x="25385" y="48270"/>
                </a:lnTo>
                <a:lnTo>
                  <a:pt x="30518" y="42016"/>
                </a:lnTo>
                <a:lnTo>
                  <a:pt x="36267" y="36267"/>
                </a:lnTo>
                <a:lnTo>
                  <a:pt x="42016" y="30517"/>
                </a:lnTo>
                <a:lnTo>
                  <a:pt x="48271" y="25384"/>
                </a:lnTo>
                <a:lnTo>
                  <a:pt x="55031" y="20867"/>
                </a:lnTo>
                <a:lnTo>
                  <a:pt x="61791" y="16350"/>
                </a:lnTo>
                <a:lnTo>
                  <a:pt x="99667" y="2378"/>
                </a:lnTo>
                <a:lnTo>
                  <a:pt x="115694" y="0"/>
                </a:lnTo>
                <a:lnTo>
                  <a:pt x="123825" y="0"/>
                </a:lnTo>
                <a:lnTo>
                  <a:pt x="4895849" y="0"/>
                </a:lnTo>
                <a:lnTo>
                  <a:pt x="4903979" y="0"/>
                </a:lnTo>
                <a:lnTo>
                  <a:pt x="4912031" y="792"/>
                </a:lnTo>
                <a:lnTo>
                  <a:pt x="4950746" y="12536"/>
                </a:lnTo>
                <a:lnTo>
                  <a:pt x="4964641" y="20867"/>
                </a:lnTo>
                <a:lnTo>
                  <a:pt x="4971402" y="25384"/>
                </a:lnTo>
                <a:lnTo>
                  <a:pt x="4977657" y="30517"/>
                </a:lnTo>
                <a:lnTo>
                  <a:pt x="4983406" y="36267"/>
                </a:lnTo>
                <a:lnTo>
                  <a:pt x="4989155" y="42016"/>
                </a:lnTo>
                <a:lnTo>
                  <a:pt x="4994288" y="48270"/>
                </a:lnTo>
                <a:lnTo>
                  <a:pt x="4998805" y="55030"/>
                </a:lnTo>
                <a:lnTo>
                  <a:pt x="5003322" y="61790"/>
                </a:lnTo>
                <a:lnTo>
                  <a:pt x="5007137" y="68926"/>
                </a:lnTo>
                <a:lnTo>
                  <a:pt x="5010247" y="76438"/>
                </a:lnTo>
                <a:lnTo>
                  <a:pt x="5013359" y="83950"/>
                </a:lnTo>
                <a:lnTo>
                  <a:pt x="5015708" y="91692"/>
                </a:lnTo>
                <a:lnTo>
                  <a:pt x="5017294" y="99667"/>
                </a:lnTo>
                <a:lnTo>
                  <a:pt x="5018881" y="107641"/>
                </a:lnTo>
                <a:lnTo>
                  <a:pt x="5019674" y="115694"/>
                </a:lnTo>
                <a:lnTo>
                  <a:pt x="5019674" y="123824"/>
                </a:lnTo>
                <a:lnTo>
                  <a:pt x="5019674" y="866774"/>
                </a:lnTo>
                <a:lnTo>
                  <a:pt x="5019674" y="874905"/>
                </a:lnTo>
                <a:lnTo>
                  <a:pt x="5018881" y="882957"/>
                </a:lnTo>
                <a:lnTo>
                  <a:pt x="5017294" y="890930"/>
                </a:lnTo>
                <a:lnTo>
                  <a:pt x="5015708" y="898905"/>
                </a:lnTo>
                <a:lnTo>
                  <a:pt x="5013359" y="906648"/>
                </a:lnTo>
                <a:lnTo>
                  <a:pt x="5010247" y="914159"/>
                </a:lnTo>
                <a:lnTo>
                  <a:pt x="5007137" y="921671"/>
                </a:lnTo>
                <a:lnTo>
                  <a:pt x="4983406" y="954331"/>
                </a:lnTo>
                <a:lnTo>
                  <a:pt x="4964641" y="969730"/>
                </a:lnTo>
                <a:lnTo>
                  <a:pt x="4957881" y="974247"/>
                </a:lnTo>
                <a:lnTo>
                  <a:pt x="4950746" y="978062"/>
                </a:lnTo>
                <a:lnTo>
                  <a:pt x="4943234" y="981173"/>
                </a:lnTo>
                <a:lnTo>
                  <a:pt x="4935722" y="984285"/>
                </a:lnTo>
                <a:lnTo>
                  <a:pt x="4927979" y="986633"/>
                </a:lnTo>
                <a:lnTo>
                  <a:pt x="4920006" y="988220"/>
                </a:lnTo>
                <a:lnTo>
                  <a:pt x="4912031" y="989806"/>
                </a:lnTo>
                <a:lnTo>
                  <a:pt x="4903979" y="990599"/>
                </a:lnTo>
                <a:lnTo>
                  <a:pt x="4895849" y="990599"/>
                </a:lnTo>
                <a:lnTo>
                  <a:pt x="123825" y="990599"/>
                </a:lnTo>
                <a:lnTo>
                  <a:pt x="115694" y="990599"/>
                </a:lnTo>
                <a:lnTo>
                  <a:pt x="107642" y="989806"/>
                </a:lnTo>
                <a:lnTo>
                  <a:pt x="99667" y="988220"/>
                </a:lnTo>
                <a:lnTo>
                  <a:pt x="91693" y="986633"/>
                </a:lnTo>
                <a:lnTo>
                  <a:pt x="55031" y="969730"/>
                </a:lnTo>
                <a:lnTo>
                  <a:pt x="48271" y="965214"/>
                </a:lnTo>
                <a:lnTo>
                  <a:pt x="20868" y="935567"/>
                </a:lnTo>
                <a:lnTo>
                  <a:pt x="3965" y="898905"/>
                </a:lnTo>
                <a:lnTo>
                  <a:pt x="2379" y="890930"/>
                </a:lnTo>
                <a:lnTo>
                  <a:pt x="793" y="882957"/>
                </a:lnTo>
                <a:lnTo>
                  <a:pt x="0" y="874905"/>
                </a:lnTo>
                <a:lnTo>
                  <a:pt x="0" y="866774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68349" y="7943850"/>
            <a:ext cx="369887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DELETE</a:t>
            </a:r>
            <a:r>
              <a:rPr sz="1650" spc="-11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30" dirty="0">
                <a:solidFill>
                  <a:srgbClr val="545759"/>
                </a:solidFill>
                <a:latin typeface="Verdana"/>
                <a:cs typeface="Verdana"/>
              </a:rPr>
              <a:t>/api/hotels/{id3</a:t>
            </a:r>
            <a:endParaRPr sz="16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Remove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hotel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0" dirty="0">
                <a:solidFill>
                  <a:srgbClr val="545759"/>
                </a:solidFill>
                <a:latin typeface="Verdana"/>
                <a:cs typeface="Verdana"/>
              </a:rPr>
              <a:t>—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cascade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rules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enforced.</a:t>
            </a:r>
            <a:endParaRPr sz="1350" dirty="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983513" y="7785100"/>
            <a:ext cx="5019675" cy="990600"/>
          </a:xfrm>
          <a:custGeom>
            <a:avLst/>
            <a:gdLst/>
            <a:ahLst/>
            <a:cxnLst/>
            <a:rect l="l" t="t" r="r" b="b"/>
            <a:pathLst>
              <a:path w="5019675" h="990600">
                <a:moveTo>
                  <a:pt x="0" y="866774"/>
                </a:moveTo>
                <a:lnTo>
                  <a:pt x="0" y="123824"/>
                </a:lnTo>
                <a:lnTo>
                  <a:pt x="0" y="115694"/>
                </a:lnTo>
                <a:lnTo>
                  <a:pt x="792" y="107641"/>
                </a:lnTo>
                <a:lnTo>
                  <a:pt x="12536" y="68926"/>
                </a:lnTo>
                <a:lnTo>
                  <a:pt x="36267" y="36267"/>
                </a:lnTo>
                <a:lnTo>
                  <a:pt x="42016" y="30517"/>
                </a:lnTo>
                <a:lnTo>
                  <a:pt x="48270" y="25384"/>
                </a:lnTo>
                <a:lnTo>
                  <a:pt x="55031" y="20867"/>
                </a:lnTo>
                <a:lnTo>
                  <a:pt x="61790" y="16350"/>
                </a:lnTo>
                <a:lnTo>
                  <a:pt x="99667" y="2378"/>
                </a:lnTo>
                <a:lnTo>
                  <a:pt x="115695" y="0"/>
                </a:lnTo>
                <a:lnTo>
                  <a:pt x="123825" y="0"/>
                </a:lnTo>
                <a:lnTo>
                  <a:pt x="4895850" y="0"/>
                </a:lnTo>
                <a:lnTo>
                  <a:pt x="4903981" y="0"/>
                </a:lnTo>
                <a:lnTo>
                  <a:pt x="4912032" y="792"/>
                </a:lnTo>
                <a:lnTo>
                  <a:pt x="4920006" y="2378"/>
                </a:lnTo>
                <a:lnTo>
                  <a:pt x="4927981" y="3965"/>
                </a:lnTo>
                <a:lnTo>
                  <a:pt x="4935724" y="6313"/>
                </a:lnTo>
                <a:lnTo>
                  <a:pt x="4943234" y="9424"/>
                </a:lnTo>
                <a:lnTo>
                  <a:pt x="4950746" y="12536"/>
                </a:lnTo>
                <a:lnTo>
                  <a:pt x="4983406" y="36267"/>
                </a:lnTo>
                <a:lnTo>
                  <a:pt x="4989156" y="42016"/>
                </a:lnTo>
                <a:lnTo>
                  <a:pt x="4994288" y="48270"/>
                </a:lnTo>
                <a:lnTo>
                  <a:pt x="4998805" y="55030"/>
                </a:lnTo>
                <a:lnTo>
                  <a:pt x="5003322" y="61790"/>
                </a:lnTo>
                <a:lnTo>
                  <a:pt x="5017295" y="99667"/>
                </a:lnTo>
                <a:lnTo>
                  <a:pt x="5019675" y="123824"/>
                </a:lnTo>
                <a:lnTo>
                  <a:pt x="5019675" y="866774"/>
                </a:lnTo>
                <a:lnTo>
                  <a:pt x="5013359" y="906648"/>
                </a:lnTo>
                <a:lnTo>
                  <a:pt x="4994288" y="942327"/>
                </a:lnTo>
                <a:lnTo>
                  <a:pt x="4964642" y="969730"/>
                </a:lnTo>
                <a:lnTo>
                  <a:pt x="4943234" y="981173"/>
                </a:lnTo>
                <a:lnTo>
                  <a:pt x="4935724" y="984285"/>
                </a:lnTo>
                <a:lnTo>
                  <a:pt x="4927981" y="986633"/>
                </a:lnTo>
                <a:lnTo>
                  <a:pt x="4920006" y="988220"/>
                </a:lnTo>
                <a:lnTo>
                  <a:pt x="4912032" y="989806"/>
                </a:lnTo>
                <a:lnTo>
                  <a:pt x="4903981" y="990599"/>
                </a:lnTo>
                <a:lnTo>
                  <a:pt x="4895850" y="990599"/>
                </a:lnTo>
                <a:lnTo>
                  <a:pt x="123825" y="990599"/>
                </a:lnTo>
                <a:lnTo>
                  <a:pt x="115695" y="990599"/>
                </a:lnTo>
                <a:lnTo>
                  <a:pt x="107642" y="989806"/>
                </a:lnTo>
                <a:lnTo>
                  <a:pt x="99667" y="988220"/>
                </a:lnTo>
                <a:lnTo>
                  <a:pt x="91693" y="986633"/>
                </a:lnTo>
                <a:lnTo>
                  <a:pt x="55031" y="969730"/>
                </a:lnTo>
                <a:lnTo>
                  <a:pt x="48270" y="965214"/>
                </a:lnTo>
                <a:lnTo>
                  <a:pt x="20867" y="935567"/>
                </a:lnTo>
                <a:lnTo>
                  <a:pt x="3965" y="898905"/>
                </a:lnTo>
                <a:lnTo>
                  <a:pt x="0" y="874905"/>
                </a:lnTo>
                <a:lnTo>
                  <a:pt x="0" y="866774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47026" y="7943850"/>
            <a:ext cx="468820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GET</a:t>
            </a:r>
            <a:r>
              <a:rPr sz="1650" spc="-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/api/hotels/search</a:t>
            </a:r>
            <a:endParaRPr sz="165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Search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by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location,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45759"/>
                </a:solidFill>
                <a:latin typeface="Verdana"/>
                <a:cs typeface="Verdana"/>
              </a:rPr>
              <a:t>name,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or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rating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using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query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parameters.</a:t>
            </a:r>
            <a:endParaRPr sz="135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05" dirty="0"/>
              <a:t>Hotel</a:t>
            </a:r>
            <a:r>
              <a:rPr spc="-204" dirty="0"/>
              <a:t> </a:t>
            </a:r>
            <a:r>
              <a:rPr spc="-135" dirty="0"/>
              <a:t>Amenity</a:t>
            </a:r>
            <a:r>
              <a:rPr spc="-200" dirty="0"/>
              <a:t> </a:t>
            </a:r>
            <a:r>
              <a:rPr spc="-20" dirty="0"/>
              <a:t>Module</a:t>
            </a:r>
            <a:r>
              <a:rPr spc="-200" dirty="0"/>
              <a:t> </a:t>
            </a:r>
            <a:r>
              <a:rPr spc="-20" dirty="0"/>
              <a:t>APIs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201" y="3268662"/>
            <a:ext cx="4551045" cy="1255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35" dirty="0">
                <a:solidFill>
                  <a:srgbClr val="0C0D0E"/>
                </a:solidFill>
                <a:latin typeface="Verdana"/>
                <a:cs typeface="Verdana"/>
              </a:rPr>
              <a:t>Many-</a:t>
            </a:r>
            <a:r>
              <a:rPr sz="1650" spc="-20" dirty="0">
                <a:solidFill>
                  <a:srgbClr val="0C0D0E"/>
                </a:solidFill>
                <a:latin typeface="Verdana"/>
                <a:cs typeface="Verdana"/>
              </a:rPr>
              <a:t>to-</a:t>
            </a:r>
            <a:r>
              <a:rPr sz="1650" dirty="0">
                <a:solidFill>
                  <a:srgbClr val="0C0D0E"/>
                </a:solidFill>
                <a:latin typeface="Verdana"/>
                <a:cs typeface="Verdana"/>
              </a:rPr>
              <a:t>Many</a:t>
            </a:r>
            <a:r>
              <a:rPr sz="1650" spc="-8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45" dirty="0">
                <a:solidFill>
                  <a:srgbClr val="0C0D0E"/>
                </a:solidFill>
                <a:latin typeface="Verdana"/>
                <a:cs typeface="Verdana"/>
              </a:rPr>
              <a:t>Relationship</a:t>
            </a:r>
            <a:r>
              <a:rPr sz="1650" spc="-75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C0D0E"/>
                </a:solidFill>
                <a:latin typeface="Verdana"/>
                <a:cs typeface="Verdana"/>
              </a:rPr>
              <a:t>Handling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Amenities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are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shared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across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hotels.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The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Arial Black"/>
                <a:cs typeface="Arial Black"/>
              </a:rPr>
              <a:t>HotelAmenity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junction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entity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resolves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this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relationship,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enabling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flexible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assignment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querying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from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either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direction.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4075" y="1457324"/>
            <a:ext cx="4905374" cy="490537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81025" y="6753224"/>
            <a:ext cx="2447925" cy="2105660"/>
          </a:xfrm>
          <a:custGeom>
            <a:avLst/>
            <a:gdLst/>
            <a:ahLst/>
            <a:cxnLst/>
            <a:rect l="l" t="t" r="r" b="b"/>
            <a:pathLst>
              <a:path w="2447925" h="2105659">
                <a:moveTo>
                  <a:pt x="2447912" y="128600"/>
                </a:moveTo>
                <a:lnTo>
                  <a:pt x="2438120" y="79387"/>
                </a:lnTo>
                <a:lnTo>
                  <a:pt x="2428862" y="61468"/>
                </a:lnTo>
                <a:lnTo>
                  <a:pt x="2428862" y="128600"/>
                </a:lnTo>
                <a:lnTo>
                  <a:pt x="2428862" y="1976450"/>
                </a:lnTo>
                <a:lnTo>
                  <a:pt x="2420518" y="2018360"/>
                </a:lnTo>
                <a:lnTo>
                  <a:pt x="2397239" y="2053399"/>
                </a:lnTo>
                <a:lnTo>
                  <a:pt x="2396782" y="2053907"/>
                </a:lnTo>
                <a:lnTo>
                  <a:pt x="2361247" y="2077643"/>
                </a:lnTo>
                <a:lnTo>
                  <a:pt x="2319324" y="2085987"/>
                </a:lnTo>
                <a:lnTo>
                  <a:pt x="95237" y="2085987"/>
                </a:lnTo>
                <a:lnTo>
                  <a:pt x="87731" y="2085708"/>
                </a:lnTo>
                <a:lnTo>
                  <a:pt x="80378" y="2084895"/>
                </a:lnTo>
                <a:lnTo>
                  <a:pt x="76200" y="2084120"/>
                </a:lnTo>
                <a:lnTo>
                  <a:pt x="76200" y="20929"/>
                </a:lnTo>
                <a:lnTo>
                  <a:pt x="80378" y="20142"/>
                </a:lnTo>
                <a:lnTo>
                  <a:pt x="87731" y="19329"/>
                </a:lnTo>
                <a:lnTo>
                  <a:pt x="95237" y="19062"/>
                </a:lnTo>
                <a:lnTo>
                  <a:pt x="2319324" y="19062"/>
                </a:lnTo>
                <a:lnTo>
                  <a:pt x="2361247" y="27393"/>
                </a:lnTo>
                <a:lnTo>
                  <a:pt x="2396782" y="51142"/>
                </a:lnTo>
                <a:lnTo>
                  <a:pt x="2420518" y="86677"/>
                </a:lnTo>
                <a:lnTo>
                  <a:pt x="2428862" y="128600"/>
                </a:lnTo>
                <a:lnTo>
                  <a:pt x="2428862" y="61468"/>
                </a:lnTo>
                <a:lnTo>
                  <a:pt x="2426271" y="57137"/>
                </a:lnTo>
                <a:lnTo>
                  <a:pt x="2418778" y="47053"/>
                </a:lnTo>
                <a:lnTo>
                  <a:pt x="2410701" y="38176"/>
                </a:lnTo>
                <a:lnTo>
                  <a:pt x="2410536" y="37985"/>
                </a:lnTo>
                <a:lnTo>
                  <a:pt x="2410256" y="37668"/>
                </a:lnTo>
                <a:lnTo>
                  <a:pt x="2400858" y="29133"/>
                </a:lnTo>
                <a:lnTo>
                  <a:pt x="2390787" y="21653"/>
                </a:lnTo>
                <a:lnTo>
                  <a:pt x="2386444" y="19062"/>
                </a:lnTo>
                <a:lnTo>
                  <a:pt x="2380005" y="15201"/>
                </a:lnTo>
                <a:lnTo>
                  <a:pt x="2331999" y="622"/>
                </a:lnTo>
                <a:lnTo>
                  <a:pt x="2319324" y="12"/>
                </a:lnTo>
                <a:lnTo>
                  <a:pt x="95237" y="12"/>
                </a:lnTo>
                <a:lnTo>
                  <a:pt x="87731" y="368"/>
                </a:lnTo>
                <a:lnTo>
                  <a:pt x="80378" y="1460"/>
                </a:lnTo>
                <a:lnTo>
                  <a:pt x="76200" y="2514"/>
                </a:lnTo>
                <a:lnTo>
                  <a:pt x="76200" y="0"/>
                </a:lnTo>
                <a:lnTo>
                  <a:pt x="71183" y="0"/>
                </a:lnTo>
                <a:lnTo>
                  <a:pt x="66243" y="482"/>
                </a:lnTo>
                <a:lnTo>
                  <a:pt x="29705" y="15621"/>
                </a:lnTo>
                <a:lnTo>
                  <a:pt x="3873" y="51663"/>
                </a:lnTo>
                <a:lnTo>
                  <a:pt x="0" y="71196"/>
                </a:lnTo>
                <a:lnTo>
                  <a:pt x="0" y="2028837"/>
                </a:lnTo>
                <a:lnTo>
                  <a:pt x="0" y="2033828"/>
                </a:lnTo>
                <a:lnTo>
                  <a:pt x="15621" y="2075319"/>
                </a:lnTo>
                <a:lnTo>
                  <a:pt x="51663" y="2101138"/>
                </a:lnTo>
                <a:lnTo>
                  <a:pt x="71183" y="2105037"/>
                </a:lnTo>
                <a:lnTo>
                  <a:pt x="76200" y="2105037"/>
                </a:lnTo>
                <a:lnTo>
                  <a:pt x="76200" y="2102535"/>
                </a:lnTo>
                <a:lnTo>
                  <a:pt x="80378" y="2103577"/>
                </a:lnTo>
                <a:lnTo>
                  <a:pt x="87731" y="2104669"/>
                </a:lnTo>
                <a:lnTo>
                  <a:pt x="95237" y="2105037"/>
                </a:lnTo>
                <a:lnTo>
                  <a:pt x="2319324" y="2105037"/>
                </a:lnTo>
                <a:lnTo>
                  <a:pt x="2368537" y="2095246"/>
                </a:lnTo>
                <a:lnTo>
                  <a:pt x="2410244" y="2067369"/>
                </a:lnTo>
                <a:lnTo>
                  <a:pt x="2410701" y="2066861"/>
                </a:lnTo>
                <a:lnTo>
                  <a:pt x="2418765" y="2057996"/>
                </a:lnTo>
                <a:lnTo>
                  <a:pt x="2442413" y="2013712"/>
                </a:lnTo>
                <a:lnTo>
                  <a:pt x="2447912" y="1976450"/>
                </a:lnTo>
                <a:lnTo>
                  <a:pt x="2447912" y="12860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5025" y="6926262"/>
            <a:ext cx="195580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5" dirty="0">
                <a:solidFill>
                  <a:srgbClr val="545759"/>
                </a:solidFill>
                <a:latin typeface="Verdana"/>
                <a:cs typeface="Verdana"/>
              </a:rPr>
              <a:t>GET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-55" dirty="0">
                <a:solidFill>
                  <a:srgbClr val="545759"/>
                </a:solidFill>
                <a:latin typeface="Verdana"/>
                <a:cs typeface="Verdana"/>
              </a:rPr>
              <a:t>/api/hotelamenities</a:t>
            </a:r>
            <a:endParaRPr sz="1650">
              <a:latin typeface="Verdana"/>
              <a:cs typeface="Verdana"/>
            </a:endParaRPr>
          </a:p>
          <a:p>
            <a:pPr marL="12700" marR="287655">
              <a:lnSpc>
                <a:spcPct val="129600"/>
              </a:lnSpc>
              <a:spcBef>
                <a:spcPts val="690"/>
              </a:spcBef>
            </a:pP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List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all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hotel-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amenity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assignments.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81350" y="6753224"/>
            <a:ext cx="2447925" cy="2105660"/>
          </a:xfrm>
          <a:custGeom>
            <a:avLst/>
            <a:gdLst/>
            <a:ahLst/>
            <a:cxnLst/>
            <a:rect l="l" t="t" r="r" b="b"/>
            <a:pathLst>
              <a:path w="2447925" h="2105659">
                <a:moveTo>
                  <a:pt x="2447912" y="128600"/>
                </a:moveTo>
                <a:lnTo>
                  <a:pt x="2438120" y="79387"/>
                </a:lnTo>
                <a:lnTo>
                  <a:pt x="2428862" y="61493"/>
                </a:lnTo>
                <a:lnTo>
                  <a:pt x="2428862" y="128600"/>
                </a:lnTo>
                <a:lnTo>
                  <a:pt x="2428862" y="1976450"/>
                </a:lnTo>
                <a:lnTo>
                  <a:pt x="2420518" y="2018360"/>
                </a:lnTo>
                <a:lnTo>
                  <a:pt x="2397239" y="2053399"/>
                </a:lnTo>
                <a:lnTo>
                  <a:pt x="2396782" y="2053907"/>
                </a:lnTo>
                <a:lnTo>
                  <a:pt x="2361247" y="2077643"/>
                </a:lnTo>
                <a:lnTo>
                  <a:pt x="2319324" y="2085987"/>
                </a:lnTo>
                <a:lnTo>
                  <a:pt x="95237" y="2085987"/>
                </a:lnTo>
                <a:lnTo>
                  <a:pt x="87731" y="2085708"/>
                </a:lnTo>
                <a:lnTo>
                  <a:pt x="80378" y="2084895"/>
                </a:lnTo>
                <a:lnTo>
                  <a:pt x="76200" y="2084120"/>
                </a:lnTo>
                <a:lnTo>
                  <a:pt x="76200" y="20929"/>
                </a:lnTo>
                <a:lnTo>
                  <a:pt x="80378" y="20142"/>
                </a:lnTo>
                <a:lnTo>
                  <a:pt x="87731" y="19329"/>
                </a:lnTo>
                <a:lnTo>
                  <a:pt x="95237" y="19062"/>
                </a:lnTo>
                <a:lnTo>
                  <a:pt x="2319324" y="19062"/>
                </a:lnTo>
                <a:lnTo>
                  <a:pt x="2361234" y="27393"/>
                </a:lnTo>
                <a:lnTo>
                  <a:pt x="2396782" y="51142"/>
                </a:lnTo>
                <a:lnTo>
                  <a:pt x="2420518" y="86677"/>
                </a:lnTo>
                <a:lnTo>
                  <a:pt x="2428862" y="128600"/>
                </a:lnTo>
                <a:lnTo>
                  <a:pt x="2428862" y="61493"/>
                </a:lnTo>
                <a:lnTo>
                  <a:pt x="2426258" y="57137"/>
                </a:lnTo>
                <a:lnTo>
                  <a:pt x="2418778" y="47053"/>
                </a:lnTo>
                <a:lnTo>
                  <a:pt x="2410701" y="38176"/>
                </a:lnTo>
                <a:lnTo>
                  <a:pt x="2410536" y="37985"/>
                </a:lnTo>
                <a:lnTo>
                  <a:pt x="2410256" y="37668"/>
                </a:lnTo>
                <a:lnTo>
                  <a:pt x="2400858" y="29133"/>
                </a:lnTo>
                <a:lnTo>
                  <a:pt x="2390787" y="21653"/>
                </a:lnTo>
                <a:lnTo>
                  <a:pt x="2386444" y="19062"/>
                </a:lnTo>
                <a:lnTo>
                  <a:pt x="2380005" y="15201"/>
                </a:lnTo>
                <a:lnTo>
                  <a:pt x="2331999" y="622"/>
                </a:lnTo>
                <a:lnTo>
                  <a:pt x="2319324" y="12"/>
                </a:lnTo>
                <a:lnTo>
                  <a:pt x="95237" y="12"/>
                </a:lnTo>
                <a:lnTo>
                  <a:pt x="87731" y="368"/>
                </a:lnTo>
                <a:lnTo>
                  <a:pt x="80378" y="1460"/>
                </a:lnTo>
                <a:lnTo>
                  <a:pt x="76200" y="2514"/>
                </a:lnTo>
                <a:lnTo>
                  <a:pt x="76200" y="0"/>
                </a:lnTo>
                <a:lnTo>
                  <a:pt x="71196" y="0"/>
                </a:lnTo>
                <a:lnTo>
                  <a:pt x="66243" y="482"/>
                </a:lnTo>
                <a:lnTo>
                  <a:pt x="29705" y="15621"/>
                </a:lnTo>
                <a:lnTo>
                  <a:pt x="3886" y="51663"/>
                </a:lnTo>
                <a:lnTo>
                  <a:pt x="0" y="71196"/>
                </a:lnTo>
                <a:lnTo>
                  <a:pt x="0" y="2028837"/>
                </a:lnTo>
                <a:lnTo>
                  <a:pt x="0" y="2033828"/>
                </a:lnTo>
                <a:lnTo>
                  <a:pt x="15621" y="2075319"/>
                </a:lnTo>
                <a:lnTo>
                  <a:pt x="51650" y="2101138"/>
                </a:lnTo>
                <a:lnTo>
                  <a:pt x="71196" y="2105037"/>
                </a:lnTo>
                <a:lnTo>
                  <a:pt x="76200" y="2105037"/>
                </a:lnTo>
                <a:lnTo>
                  <a:pt x="76200" y="2102535"/>
                </a:lnTo>
                <a:lnTo>
                  <a:pt x="80378" y="2103577"/>
                </a:lnTo>
                <a:lnTo>
                  <a:pt x="87731" y="2104669"/>
                </a:lnTo>
                <a:lnTo>
                  <a:pt x="95237" y="2105037"/>
                </a:lnTo>
                <a:lnTo>
                  <a:pt x="2319324" y="2105037"/>
                </a:lnTo>
                <a:lnTo>
                  <a:pt x="2368537" y="2095246"/>
                </a:lnTo>
                <a:lnTo>
                  <a:pt x="2410244" y="2067369"/>
                </a:lnTo>
                <a:lnTo>
                  <a:pt x="2410701" y="2066861"/>
                </a:lnTo>
                <a:lnTo>
                  <a:pt x="2418765" y="2057996"/>
                </a:lnTo>
                <a:lnTo>
                  <a:pt x="2442413" y="2013712"/>
                </a:lnTo>
                <a:lnTo>
                  <a:pt x="2447912" y="1976450"/>
                </a:lnTo>
                <a:lnTo>
                  <a:pt x="2447912" y="12860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35350" y="6926262"/>
            <a:ext cx="1955800" cy="1169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0" dirty="0">
                <a:solidFill>
                  <a:srgbClr val="545759"/>
                </a:solidFill>
                <a:latin typeface="Verdana"/>
                <a:cs typeface="Verdana"/>
              </a:rPr>
              <a:t>POST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-55" dirty="0">
                <a:solidFill>
                  <a:srgbClr val="545759"/>
                </a:solidFill>
                <a:latin typeface="Verdana"/>
                <a:cs typeface="Verdana"/>
              </a:rPr>
              <a:t>/api/hotelamenities</a:t>
            </a:r>
            <a:endParaRPr sz="1650">
              <a:latin typeface="Verdana"/>
              <a:cs typeface="Verdana"/>
            </a:endParaRPr>
          </a:p>
          <a:p>
            <a:pPr marL="12700" marR="170180">
              <a:lnSpc>
                <a:spcPct val="129600"/>
              </a:lnSpc>
              <a:spcBef>
                <a:spcPts val="690"/>
              </a:spcBef>
            </a:pP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Assign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an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amenity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a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hotel.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81675" y="6753224"/>
            <a:ext cx="2447925" cy="2105660"/>
          </a:xfrm>
          <a:custGeom>
            <a:avLst/>
            <a:gdLst/>
            <a:ahLst/>
            <a:cxnLst/>
            <a:rect l="l" t="t" r="r" b="b"/>
            <a:pathLst>
              <a:path w="2447925" h="2105659">
                <a:moveTo>
                  <a:pt x="2447912" y="128600"/>
                </a:moveTo>
                <a:lnTo>
                  <a:pt x="2438120" y="79387"/>
                </a:lnTo>
                <a:lnTo>
                  <a:pt x="2428862" y="61468"/>
                </a:lnTo>
                <a:lnTo>
                  <a:pt x="2428862" y="128600"/>
                </a:lnTo>
                <a:lnTo>
                  <a:pt x="2428862" y="1976450"/>
                </a:lnTo>
                <a:lnTo>
                  <a:pt x="2420518" y="2018360"/>
                </a:lnTo>
                <a:lnTo>
                  <a:pt x="2397239" y="2053399"/>
                </a:lnTo>
                <a:lnTo>
                  <a:pt x="2396782" y="2053907"/>
                </a:lnTo>
                <a:lnTo>
                  <a:pt x="2361234" y="2077643"/>
                </a:lnTo>
                <a:lnTo>
                  <a:pt x="2319324" y="2085987"/>
                </a:lnTo>
                <a:lnTo>
                  <a:pt x="95237" y="2085987"/>
                </a:lnTo>
                <a:lnTo>
                  <a:pt x="87731" y="2085708"/>
                </a:lnTo>
                <a:lnTo>
                  <a:pt x="80378" y="2084895"/>
                </a:lnTo>
                <a:lnTo>
                  <a:pt x="76200" y="2084120"/>
                </a:lnTo>
                <a:lnTo>
                  <a:pt x="76200" y="20929"/>
                </a:lnTo>
                <a:lnTo>
                  <a:pt x="80378" y="20142"/>
                </a:lnTo>
                <a:lnTo>
                  <a:pt x="87731" y="19329"/>
                </a:lnTo>
                <a:lnTo>
                  <a:pt x="95237" y="19062"/>
                </a:lnTo>
                <a:lnTo>
                  <a:pt x="2319324" y="19062"/>
                </a:lnTo>
                <a:lnTo>
                  <a:pt x="2361234" y="27393"/>
                </a:lnTo>
                <a:lnTo>
                  <a:pt x="2396782" y="51142"/>
                </a:lnTo>
                <a:lnTo>
                  <a:pt x="2420518" y="86677"/>
                </a:lnTo>
                <a:lnTo>
                  <a:pt x="2428862" y="128600"/>
                </a:lnTo>
                <a:lnTo>
                  <a:pt x="2428862" y="61468"/>
                </a:lnTo>
                <a:lnTo>
                  <a:pt x="2426271" y="57137"/>
                </a:lnTo>
                <a:lnTo>
                  <a:pt x="2418778" y="47053"/>
                </a:lnTo>
                <a:lnTo>
                  <a:pt x="2410701" y="38176"/>
                </a:lnTo>
                <a:lnTo>
                  <a:pt x="2410536" y="37985"/>
                </a:lnTo>
                <a:lnTo>
                  <a:pt x="2410256" y="37668"/>
                </a:lnTo>
                <a:lnTo>
                  <a:pt x="2400858" y="29133"/>
                </a:lnTo>
                <a:lnTo>
                  <a:pt x="2390787" y="21653"/>
                </a:lnTo>
                <a:lnTo>
                  <a:pt x="2386444" y="19062"/>
                </a:lnTo>
                <a:lnTo>
                  <a:pt x="2380005" y="15201"/>
                </a:lnTo>
                <a:lnTo>
                  <a:pt x="2331999" y="622"/>
                </a:lnTo>
                <a:lnTo>
                  <a:pt x="2319324" y="12"/>
                </a:lnTo>
                <a:lnTo>
                  <a:pt x="95237" y="12"/>
                </a:lnTo>
                <a:lnTo>
                  <a:pt x="87731" y="368"/>
                </a:lnTo>
                <a:lnTo>
                  <a:pt x="80378" y="1460"/>
                </a:lnTo>
                <a:lnTo>
                  <a:pt x="76200" y="2514"/>
                </a:lnTo>
                <a:lnTo>
                  <a:pt x="76200" y="0"/>
                </a:lnTo>
                <a:lnTo>
                  <a:pt x="71196" y="0"/>
                </a:lnTo>
                <a:lnTo>
                  <a:pt x="66243" y="482"/>
                </a:lnTo>
                <a:lnTo>
                  <a:pt x="29705" y="15621"/>
                </a:lnTo>
                <a:lnTo>
                  <a:pt x="3886" y="51663"/>
                </a:lnTo>
                <a:lnTo>
                  <a:pt x="0" y="71196"/>
                </a:lnTo>
                <a:lnTo>
                  <a:pt x="0" y="2028837"/>
                </a:lnTo>
                <a:lnTo>
                  <a:pt x="0" y="2033828"/>
                </a:lnTo>
                <a:lnTo>
                  <a:pt x="15621" y="2075319"/>
                </a:lnTo>
                <a:lnTo>
                  <a:pt x="51663" y="2101138"/>
                </a:lnTo>
                <a:lnTo>
                  <a:pt x="71196" y="2105037"/>
                </a:lnTo>
                <a:lnTo>
                  <a:pt x="76200" y="2105037"/>
                </a:lnTo>
                <a:lnTo>
                  <a:pt x="76200" y="2102535"/>
                </a:lnTo>
                <a:lnTo>
                  <a:pt x="80378" y="2103577"/>
                </a:lnTo>
                <a:lnTo>
                  <a:pt x="87731" y="2104669"/>
                </a:lnTo>
                <a:lnTo>
                  <a:pt x="95237" y="2105037"/>
                </a:lnTo>
                <a:lnTo>
                  <a:pt x="2319324" y="2105037"/>
                </a:lnTo>
                <a:lnTo>
                  <a:pt x="2368537" y="2095246"/>
                </a:lnTo>
                <a:lnTo>
                  <a:pt x="2410244" y="2067369"/>
                </a:lnTo>
                <a:lnTo>
                  <a:pt x="2410701" y="2066861"/>
                </a:lnTo>
                <a:lnTo>
                  <a:pt x="2418765" y="2057996"/>
                </a:lnTo>
                <a:lnTo>
                  <a:pt x="2442413" y="2013712"/>
                </a:lnTo>
                <a:lnTo>
                  <a:pt x="2447912" y="1976450"/>
                </a:lnTo>
                <a:lnTo>
                  <a:pt x="2447912" y="12860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35675" y="6926262"/>
            <a:ext cx="2007870" cy="1712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DELETE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-30" dirty="0">
                <a:solidFill>
                  <a:srgbClr val="545759"/>
                </a:solidFill>
                <a:latin typeface="Verdana"/>
                <a:cs typeface="Verdana"/>
              </a:rPr>
              <a:t>/api/hotelamenities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06100"/>
              </a:lnSpc>
            </a:pPr>
            <a:r>
              <a:rPr sz="1650" spc="-125" dirty="0">
                <a:solidFill>
                  <a:srgbClr val="545759"/>
                </a:solidFill>
                <a:latin typeface="Verdana"/>
                <a:cs typeface="Verdana"/>
              </a:rPr>
              <a:t>/{hotelId3/{amenityI </a:t>
            </a:r>
            <a:r>
              <a:rPr sz="1650" spc="-25" dirty="0">
                <a:solidFill>
                  <a:srgbClr val="545759"/>
                </a:solidFill>
                <a:latin typeface="Verdana"/>
                <a:cs typeface="Verdana"/>
              </a:rPr>
              <a:t>d3</a:t>
            </a:r>
            <a:endParaRPr sz="1650">
              <a:latin typeface="Verdana"/>
              <a:cs typeface="Verdana"/>
            </a:endParaRPr>
          </a:p>
          <a:p>
            <a:pPr marL="12700" marR="53340">
              <a:lnSpc>
                <a:spcPct val="134300"/>
              </a:lnSpc>
              <a:spcBef>
                <a:spcPts val="615"/>
              </a:spcBef>
            </a:pP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Remove</a:t>
            </a:r>
            <a:r>
              <a:rPr sz="1350" spc="-20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</a:t>
            </a:r>
            <a:r>
              <a:rPr sz="1350" spc="-20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specific</a:t>
            </a:r>
            <a:r>
              <a:rPr sz="1350" spc="-204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hotel-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amenity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link.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382000" y="6753224"/>
            <a:ext cx="2447925" cy="2105660"/>
          </a:xfrm>
          <a:custGeom>
            <a:avLst/>
            <a:gdLst/>
            <a:ahLst/>
            <a:cxnLst/>
            <a:rect l="l" t="t" r="r" b="b"/>
            <a:pathLst>
              <a:path w="2447925" h="2105659">
                <a:moveTo>
                  <a:pt x="2447912" y="128600"/>
                </a:moveTo>
                <a:lnTo>
                  <a:pt x="2438120" y="79387"/>
                </a:lnTo>
                <a:lnTo>
                  <a:pt x="2428862" y="61493"/>
                </a:lnTo>
                <a:lnTo>
                  <a:pt x="2428862" y="128600"/>
                </a:lnTo>
                <a:lnTo>
                  <a:pt x="2428862" y="1976450"/>
                </a:lnTo>
                <a:lnTo>
                  <a:pt x="2420518" y="2018360"/>
                </a:lnTo>
                <a:lnTo>
                  <a:pt x="2397239" y="2053399"/>
                </a:lnTo>
                <a:lnTo>
                  <a:pt x="2396782" y="2053907"/>
                </a:lnTo>
                <a:lnTo>
                  <a:pt x="2361234" y="2077643"/>
                </a:lnTo>
                <a:lnTo>
                  <a:pt x="2319324" y="2085987"/>
                </a:lnTo>
                <a:lnTo>
                  <a:pt x="95237" y="2085987"/>
                </a:lnTo>
                <a:lnTo>
                  <a:pt x="87731" y="2085708"/>
                </a:lnTo>
                <a:lnTo>
                  <a:pt x="80378" y="2084895"/>
                </a:lnTo>
                <a:lnTo>
                  <a:pt x="76200" y="2084120"/>
                </a:lnTo>
                <a:lnTo>
                  <a:pt x="76200" y="20929"/>
                </a:lnTo>
                <a:lnTo>
                  <a:pt x="80378" y="20142"/>
                </a:lnTo>
                <a:lnTo>
                  <a:pt x="87731" y="19329"/>
                </a:lnTo>
                <a:lnTo>
                  <a:pt x="95237" y="19062"/>
                </a:lnTo>
                <a:lnTo>
                  <a:pt x="2319324" y="19062"/>
                </a:lnTo>
                <a:lnTo>
                  <a:pt x="2361234" y="27393"/>
                </a:lnTo>
                <a:lnTo>
                  <a:pt x="2396782" y="51142"/>
                </a:lnTo>
                <a:lnTo>
                  <a:pt x="2420518" y="86677"/>
                </a:lnTo>
                <a:lnTo>
                  <a:pt x="2428862" y="128600"/>
                </a:lnTo>
                <a:lnTo>
                  <a:pt x="2428862" y="61493"/>
                </a:lnTo>
                <a:lnTo>
                  <a:pt x="2426258" y="57137"/>
                </a:lnTo>
                <a:lnTo>
                  <a:pt x="2418778" y="47053"/>
                </a:lnTo>
                <a:lnTo>
                  <a:pt x="2410701" y="38176"/>
                </a:lnTo>
                <a:lnTo>
                  <a:pt x="2410536" y="37985"/>
                </a:lnTo>
                <a:lnTo>
                  <a:pt x="2410256" y="37668"/>
                </a:lnTo>
                <a:lnTo>
                  <a:pt x="2400858" y="29133"/>
                </a:lnTo>
                <a:lnTo>
                  <a:pt x="2390787" y="21653"/>
                </a:lnTo>
                <a:lnTo>
                  <a:pt x="2386444" y="19062"/>
                </a:lnTo>
                <a:lnTo>
                  <a:pt x="2380005" y="15201"/>
                </a:lnTo>
                <a:lnTo>
                  <a:pt x="2331999" y="622"/>
                </a:lnTo>
                <a:lnTo>
                  <a:pt x="2319324" y="12"/>
                </a:lnTo>
                <a:lnTo>
                  <a:pt x="95237" y="12"/>
                </a:lnTo>
                <a:lnTo>
                  <a:pt x="87731" y="368"/>
                </a:lnTo>
                <a:lnTo>
                  <a:pt x="80378" y="1460"/>
                </a:lnTo>
                <a:lnTo>
                  <a:pt x="76200" y="2514"/>
                </a:lnTo>
                <a:lnTo>
                  <a:pt x="76200" y="0"/>
                </a:lnTo>
                <a:lnTo>
                  <a:pt x="71196" y="0"/>
                </a:lnTo>
                <a:lnTo>
                  <a:pt x="66243" y="482"/>
                </a:lnTo>
                <a:lnTo>
                  <a:pt x="29705" y="15621"/>
                </a:lnTo>
                <a:lnTo>
                  <a:pt x="3886" y="51663"/>
                </a:lnTo>
                <a:lnTo>
                  <a:pt x="0" y="71196"/>
                </a:lnTo>
                <a:lnTo>
                  <a:pt x="0" y="2028837"/>
                </a:lnTo>
                <a:lnTo>
                  <a:pt x="0" y="2033828"/>
                </a:lnTo>
                <a:lnTo>
                  <a:pt x="15621" y="2075319"/>
                </a:lnTo>
                <a:lnTo>
                  <a:pt x="51663" y="2101138"/>
                </a:lnTo>
                <a:lnTo>
                  <a:pt x="71196" y="2105037"/>
                </a:lnTo>
                <a:lnTo>
                  <a:pt x="76200" y="2105037"/>
                </a:lnTo>
                <a:lnTo>
                  <a:pt x="76200" y="2102535"/>
                </a:lnTo>
                <a:lnTo>
                  <a:pt x="80378" y="2103577"/>
                </a:lnTo>
                <a:lnTo>
                  <a:pt x="87731" y="2104669"/>
                </a:lnTo>
                <a:lnTo>
                  <a:pt x="95237" y="2105037"/>
                </a:lnTo>
                <a:lnTo>
                  <a:pt x="2319324" y="2105037"/>
                </a:lnTo>
                <a:lnTo>
                  <a:pt x="2368537" y="2095246"/>
                </a:lnTo>
                <a:lnTo>
                  <a:pt x="2410244" y="2067369"/>
                </a:lnTo>
                <a:lnTo>
                  <a:pt x="2410701" y="2066861"/>
                </a:lnTo>
                <a:lnTo>
                  <a:pt x="2418765" y="2057996"/>
                </a:lnTo>
                <a:lnTo>
                  <a:pt x="2442413" y="2013712"/>
                </a:lnTo>
                <a:lnTo>
                  <a:pt x="2447912" y="1976450"/>
                </a:lnTo>
                <a:lnTo>
                  <a:pt x="2447912" y="12860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636000" y="6926262"/>
            <a:ext cx="1955800" cy="14458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5" dirty="0">
                <a:solidFill>
                  <a:srgbClr val="545759"/>
                </a:solidFill>
                <a:latin typeface="Verdana"/>
                <a:cs typeface="Verdana"/>
              </a:rPr>
              <a:t>GET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-55" dirty="0">
                <a:solidFill>
                  <a:srgbClr val="545759"/>
                </a:solidFill>
                <a:latin typeface="Verdana"/>
                <a:cs typeface="Verdana"/>
              </a:rPr>
              <a:t>/api/hotelamenities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-50" dirty="0">
                <a:solidFill>
                  <a:srgbClr val="545759"/>
                </a:solidFill>
                <a:latin typeface="Verdana"/>
                <a:cs typeface="Verdana"/>
              </a:rPr>
              <a:t>/hotel/{hotelId3</a:t>
            </a:r>
            <a:endParaRPr sz="1650">
              <a:latin typeface="Verdana"/>
              <a:cs typeface="Verdana"/>
            </a:endParaRPr>
          </a:p>
          <a:p>
            <a:pPr marL="12700" marR="238125">
              <a:lnSpc>
                <a:spcPct val="134300"/>
              </a:lnSpc>
              <a:spcBef>
                <a:spcPts val="615"/>
              </a:spcBef>
            </a:pP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Get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all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amenities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a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hotel.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1025" y="9029700"/>
            <a:ext cx="2447925" cy="2095500"/>
          </a:xfrm>
          <a:custGeom>
            <a:avLst/>
            <a:gdLst/>
            <a:ahLst/>
            <a:cxnLst/>
            <a:rect l="l" t="t" r="r" b="b"/>
            <a:pathLst>
              <a:path w="2447925" h="2095500">
                <a:moveTo>
                  <a:pt x="2447912" y="128600"/>
                </a:moveTo>
                <a:lnTo>
                  <a:pt x="2438120" y="79387"/>
                </a:lnTo>
                <a:lnTo>
                  <a:pt x="2428862" y="61468"/>
                </a:lnTo>
                <a:lnTo>
                  <a:pt x="2428862" y="128600"/>
                </a:lnTo>
                <a:lnTo>
                  <a:pt x="2428862" y="1966912"/>
                </a:lnTo>
                <a:lnTo>
                  <a:pt x="2420518" y="2008835"/>
                </a:lnTo>
                <a:lnTo>
                  <a:pt x="2397239" y="2043874"/>
                </a:lnTo>
                <a:lnTo>
                  <a:pt x="2361247" y="2068118"/>
                </a:lnTo>
                <a:lnTo>
                  <a:pt x="2319324" y="2076450"/>
                </a:lnTo>
                <a:lnTo>
                  <a:pt x="95237" y="2076450"/>
                </a:lnTo>
                <a:lnTo>
                  <a:pt x="87731" y="2076183"/>
                </a:lnTo>
                <a:lnTo>
                  <a:pt x="80378" y="2075370"/>
                </a:lnTo>
                <a:lnTo>
                  <a:pt x="76200" y="2074595"/>
                </a:lnTo>
                <a:lnTo>
                  <a:pt x="76200" y="20929"/>
                </a:lnTo>
                <a:lnTo>
                  <a:pt x="80378" y="20142"/>
                </a:lnTo>
                <a:lnTo>
                  <a:pt x="87731" y="19329"/>
                </a:lnTo>
                <a:lnTo>
                  <a:pt x="95237" y="19062"/>
                </a:lnTo>
                <a:lnTo>
                  <a:pt x="2319324" y="19062"/>
                </a:lnTo>
                <a:lnTo>
                  <a:pt x="2361247" y="27393"/>
                </a:lnTo>
                <a:lnTo>
                  <a:pt x="2396782" y="51142"/>
                </a:lnTo>
                <a:lnTo>
                  <a:pt x="2420518" y="86677"/>
                </a:lnTo>
                <a:lnTo>
                  <a:pt x="2428862" y="128600"/>
                </a:lnTo>
                <a:lnTo>
                  <a:pt x="2428862" y="61468"/>
                </a:lnTo>
                <a:lnTo>
                  <a:pt x="2426271" y="57137"/>
                </a:lnTo>
                <a:lnTo>
                  <a:pt x="2418778" y="47053"/>
                </a:lnTo>
                <a:lnTo>
                  <a:pt x="2410701" y="38176"/>
                </a:lnTo>
                <a:lnTo>
                  <a:pt x="2410536" y="37985"/>
                </a:lnTo>
                <a:lnTo>
                  <a:pt x="2410256" y="37668"/>
                </a:lnTo>
                <a:lnTo>
                  <a:pt x="2400858" y="29133"/>
                </a:lnTo>
                <a:lnTo>
                  <a:pt x="2390787" y="21653"/>
                </a:lnTo>
                <a:lnTo>
                  <a:pt x="2386444" y="19062"/>
                </a:lnTo>
                <a:lnTo>
                  <a:pt x="2380005" y="15201"/>
                </a:lnTo>
                <a:lnTo>
                  <a:pt x="2331999" y="622"/>
                </a:lnTo>
                <a:lnTo>
                  <a:pt x="2319324" y="12"/>
                </a:lnTo>
                <a:lnTo>
                  <a:pt x="95237" y="12"/>
                </a:lnTo>
                <a:lnTo>
                  <a:pt x="87731" y="368"/>
                </a:lnTo>
                <a:lnTo>
                  <a:pt x="80378" y="1460"/>
                </a:lnTo>
                <a:lnTo>
                  <a:pt x="76200" y="2514"/>
                </a:lnTo>
                <a:lnTo>
                  <a:pt x="76200" y="0"/>
                </a:lnTo>
                <a:lnTo>
                  <a:pt x="71183" y="0"/>
                </a:lnTo>
                <a:lnTo>
                  <a:pt x="66243" y="482"/>
                </a:lnTo>
                <a:lnTo>
                  <a:pt x="29705" y="15621"/>
                </a:lnTo>
                <a:lnTo>
                  <a:pt x="3873" y="51663"/>
                </a:lnTo>
                <a:lnTo>
                  <a:pt x="0" y="71196"/>
                </a:lnTo>
                <a:lnTo>
                  <a:pt x="0" y="2019300"/>
                </a:lnTo>
                <a:lnTo>
                  <a:pt x="0" y="2024303"/>
                </a:lnTo>
                <a:lnTo>
                  <a:pt x="15621" y="2065794"/>
                </a:lnTo>
                <a:lnTo>
                  <a:pt x="51663" y="2091613"/>
                </a:lnTo>
                <a:lnTo>
                  <a:pt x="71183" y="2095500"/>
                </a:lnTo>
                <a:lnTo>
                  <a:pt x="76200" y="2095500"/>
                </a:lnTo>
                <a:lnTo>
                  <a:pt x="76200" y="2093010"/>
                </a:lnTo>
                <a:lnTo>
                  <a:pt x="80378" y="2094052"/>
                </a:lnTo>
                <a:lnTo>
                  <a:pt x="87731" y="2095144"/>
                </a:lnTo>
                <a:lnTo>
                  <a:pt x="95237" y="2095500"/>
                </a:lnTo>
                <a:lnTo>
                  <a:pt x="2319324" y="2095500"/>
                </a:lnTo>
                <a:lnTo>
                  <a:pt x="2368537" y="2085721"/>
                </a:lnTo>
                <a:lnTo>
                  <a:pt x="2386444" y="2076450"/>
                </a:lnTo>
                <a:lnTo>
                  <a:pt x="2390787" y="2073859"/>
                </a:lnTo>
                <a:lnTo>
                  <a:pt x="2400858" y="2066366"/>
                </a:lnTo>
                <a:lnTo>
                  <a:pt x="2410244" y="2057844"/>
                </a:lnTo>
                <a:lnTo>
                  <a:pt x="2410701" y="2057336"/>
                </a:lnTo>
                <a:lnTo>
                  <a:pt x="2418765" y="2048459"/>
                </a:lnTo>
                <a:lnTo>
                  <a:pt x="2426271" y="2038362"/>
                </a:lnTo>
                <a:lnTo>
                  <a:pt x="2445474" y="1992007"/>
                </a:lnTo>
                <a:lnTo>
                  <a:pt x="2447912" y="1966912"/>
                </a:lnTo>
                <a:lnTo>
                  <a:pt x="2447912" y="12860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35025" y="9202737"/>
            <a:ext cx="1955800" cy="17125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5" dirty="0">
                <a:solidFill>
                  <a:srgbClr val="545759"/>
                </a:solidFill>
                <a:latin typeface="Verdana"/>
                <a:cs typeface="Verdana"/>
              </a:rPr>
              <a:t>GET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50" spc="-55" dirty="0">
                <a:solidFill>
                  <a:srgbClr val="545759"/>
                </a:solidFill>
                <a:latin typeface="Verdana"/>
                <a:cs typeface="Verdana"/>
              </a:rPr>
              <a:t>/api/hotelamenities</a:t>
            </a:r>
            <a:endParaRPr sz="1650">
              <a:latin typeface="Verdana"/>
              <a:cs typeface="Verdana"/>
            </a:endParaRPr>
          </a:p>
          <a:p>
            <a:pPr marL="12700" marR="30480">
              <a:lnSpc>
                <a:spcPct val="106100"/>
              </a:lnSpc>
            </a:pPr>
            <a:r>
              <a:rPr sz="1650" spc="-100" dirty="0">
                <a:solidFill>
                  <a:srgbClr val="545759"/>
                </a:solidFill>
                <a:latin typeface="Verdana"/>
                <a:cs typeface="Verdana"/>
              </a:rPr>
              <a:t>/amenity/{amenityI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d3/hotels</a:t>
            </a:r>
            <a:endParaRPr sz="1650">
              <a:latin typeface="Verdana"/>
              <a:cs typeface="Verdana"/>
            </a:endParaRPr>
          </a:p>
          <a:p>
            <a:pPr marL="12700" marR="74295">
              <a:lnSpc>
                <a:spcPct val="134300"/>
              </a:lnSpc>
              <a:spcBef>
                <a:spcPts val="615"/>
              </a:spcBef>
            </a:pP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Find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all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hotels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offering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a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specific</a:t>
            </a:r>
            <a:r>
              <a:rPr sz="1350" spc="-1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amenity.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10" dirty="0"/>
              <a:t>Reservation</a:t>
            </a:r>
            <a:r>
              <a:rPr spc="-210" dirty="0"/>
              <a:t> </a:t>
            </a:r>
            <a:r>
              <a:rPr spc="-270" dirty="0"/>
              <a:t>&amp;</a:t>
            </a:r>
            <a:r>
              <a:rPr spc="-204" dirty="0"/>
              <a:t> </a:t>
            </a:r>
            <a:r>
              <a:rPr spc="-140" dirty="0"/>
              <a:t>Payment</a:t>
            </a:r>
            <a:r>
              <a:rPr spc="-204" dirty="0"/>
              <a:t> </a:t>
            </a:r>
            <a:r>
              <a:rPr spc="-10" dirty="0"/>
              <a:t>Modules</a:t>
            </a:r>
          </a:p>
        </p:txBody>
      </p:sp>
      <p:sp>
        <p:nvSpPr>
          <p:cNvPr id="3" name="object 3"/>
          <p:cNvSpPr/>
          <p:nvPr/>
        </p:nvSpPr>
        <p:spPr>
          <a:xfrm>
            <a:off x="600075" y="2171700"/>
            <a:ext cx="3305175" cy="19050"/>
          </a:xfrm>
          <a:custGeom>
            <a:avLst/>
            <a:gdLst/>
            <a:ahLst/>
            <a:cxnLst/>
            <a:rect l="l" t="t" r="r" b="b"/>
            <a:pathLst>
              <a:path w="3305175" h="19050">
                <a:moveTo>
                  <a:pt x="3305175" y="0"/>
                </a:moveTo>
                <a:lnTo>
                  <a:pt x="0" y="0"/>
                </a:lnTo>
                <a:lnTo>
                  <a:pt x="0" y="19050"/>
                </a:lnTo>
                <a:lnTo>
                  <a:pt x="3305175" y="19050"/>
                </a:lnTo>
                <a:lnTo>
                  <a:pt x="3305175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0075" y="3857625"/>
            <a:ext cx="3305175" cy="19050"/>
          </a:xfrm>
          <a:custGeom>
            <a:avLst/>
            <a:gdLst/>
            <a:ahLst/>
            <a:cxnLst/>
            <a:rect l="l" t="t" r="r" b="b"/>
            <a:pathLst>
              <a:path w="3305175" h="19050">
                <a:moveTo>
                  <a:pt x="3305175" y="0"/>
                </a:moveTo>
                <a:lnTo>
                  <a:pt x="0" y="0"/>
                </a:lnTo>
                <a:lnTo>
                  <a:pt x="0" y="19050"/>
                </a:lnTo>
                <a:lnTo>
                  <a:pt x="3305175" y="19050"/>
                </a:lnTo>
                <a:lnTo>
                  <a:pt x="3305175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0075" y="5543550"/>
            <a:ext cx="3305175" cy="19050"/>
          </a:xfrm>
          <a:custGeom>
            <a:avLst/>
            <a:gdLst/>
            <a:ahLst/>
            <a:cxnLst/>
            <a:rect l="l" t="t" r="r" b="b"/>
            <a:pathLst>
              <a:path w="3305175" h="19050">
                <a:moveTo>
                  <a:pt x="3305175" y="0"/>
                </a:moveTo>
                <a:lnTo>
                  <a:pt x="0" y="0"/>
                </a:lnTo>
                <a:lnTo>
                  <a:pt x="0" y="19050"/>
                </a:lnTo>
                <a:lnTo>
                  <a:pt x="3305175" y="19050"/>
                </a:lnTo>
                <a:lnTo>
                  <a:pt x="3305175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0075" y="7219950"/>
            <a:ext cx="3305175" cy="19050"/>
          </a:xfrm>
          <a:custGeom>
            <a:avLst/>
            <a:gdLst/>
            <a:ahLst/>
            <a:cxnLst/>
            <a:rect l="l" t="t" r="r" b="b"/>
            <a:pathLst>
              <a:path w="3305175" h="19050">
                <a:moveTo>
                  <a:pt x="3305175" y="0"/>
                </a:moveTo>
                <a:lnTo>
                  <a:pt x="0" y="0"/>
                </a:lnTo>
                <a:lnTo>
                  <a:pt x="0" y="19050"/>
                </a:lnTo>
                <a:lnTo>
                  <a:pt x="3305175" y="19050"/>
                </a:lnTo>
                <a:lnTo>
                  <a:pt x="3305175" y="0"/>
                </a:lnTo>
                <a:close/>
              </a:path>
            </a:pathLst>
          </a:custGeom>
          <a:solidFill>
            <a:srgbClr val="FF6F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87375" y="1420812"/>
            <a:ext cx="3218180" cy="68846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5" dirty="0">
                <a:solidFill>
                  <a:srgbClr val="0C0D0E"/>
                </a:solidFill>
                <a:latin typeface="Verdana"/>
                <a:cs typeface="Verdana"/>
              </a:rPr>
              <a:t>Reservation</a:t>
            </a:r>
            <a:r>
              <a:rPr sz="1650" spc="-6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C0D0E"/>
                </a:solidFill>
                <a:latin typeface="Verdana"/>
                <a:cs typeface="Verdana"/>
              </a:rPr>
              <a:t>Workflow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350" spc="-25" dirty="0">
                <a:solidFill>
                  <a:srgbClr val="545759"/>
                </a:solidFill>
                <a:latin typeface="Tahoma"/>
                <a:cs typeface="Tahoma"/>
              </a:rPr>
              <a:t>01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Check</a:t>
            </a:r>
            <a:r>
              <a:rPr sz="1650" spc="-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Availability</a:t>
            </a:r>
            <a:endParaRPr sz="1650">
              <a:latin typeface="Verdana"/>
              <a:cs typeface="Verdana"/>
            </a:endParaRPr>
          </a:p>
          <a:p>
            <a:pPr marL="12700" marR="154305">
              <a:lnSpc>
                <a:spcPct val="134300"/>
              </a:lnSpc>
              <a:spcBef>
                <a:spcPts val="1140"/>
              </a:spcBef>
            </a:pP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Validate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Verdana"/>
                <a:cs typeface="Verdana"/>
              </a:rPr>
              <a:t>room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availability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for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requested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date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range.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50" spc="60" dirty="0">
                <a:solidFill>
                  <a:srgbClr val="545759"/>
                </a:solidFill>
                <a:latin typeface="Tahoma"/>
                <a:cs typeface="Tahoma"/>
              </a:rPr>
              <a:t>02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650" spc="-45" dirty="0">
                <a:solidFill>
                  <a:srgbClr val="545759"/>
                </a:solidFill>
                <a:latin typeface="Verdana"/>
                <a:cs typeface="Verdana"/>
              </a:rPr>
              <a:t>Create</a:t>
            </a:r>
            <a:r>
              <a:rPr sz="1650" spc="-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Reservation</a:t>
            </a:r>
            <a:endParaRPr sz="1650">
              <a:latin typeface="Verdana"/>
              <a:cs typeface="Verdana"/>
            </a:endParaRPr>
          </a:p>
          <a:p>
            <a:pPr marL="12700" marR="186055">
              <a:lnSpc>
                <a:spcPct val="134300"/>
              </a:lnSpc>
              <a:spcBef>
                <a:spcPts val="1140"/>
              </a:spcBef>
            </a:pP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Persist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reservation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linked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Room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guest</a:t>
            </a:r>
            <a:r>
              <a:rPr sz="1350" spc="-16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details.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spc="55" dirty="0">
                <a:solidFill>
                  <a:srgbClr val="545759"/>
                </a:solidFill>
                <a:latin typeface="Tahoma"/>
                <a:cs typeface="Tahoma"/>
              </a:rPr>
              <a:t>03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Process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 Payment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9600"/>
              </a:lnSpc>
              <a:spcBef>
                <a:spcPts val="1215"/>
              </a:spcBef>
            </a:pP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Record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payment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status: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5" dirty="0">
                <a:solidFill>
                  <a:srgbClr val="545759"/>
                </a:solidFill>
                <a:latin typeface="Arial Black"/>
                <a:cs typeface="Arial Black"/>
              </a:rPr>
              <a:t>Pending</a:t>
            </a:r>
            <a:r>
              <a:rPr sz="1350" spc="-14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Arial Black"/>
                <a:cs typeface="Arial Black"/>
              </a:rPr>
              <a:t>→ </a:t>
            </a:r>
            <a:r>
              <a:rPr sz="1350" spc="-90" dirty="0">
                <a:solidFill>
                  <a:srgbClr val="545759"/>
                </a:solidFill>
                <a:latin typeface="Arial Black"/>
                <a:cs typeface="Arial Black"/>
              </a:rPr>
              <a:t>Completed</a:t>
            </a:r>
            <a:r>
              <a:rPr sz="1350" spc="-155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204" dirty="0">
                <a:solidFill>
                  <a:srgbClr val="545759"/>
                </a:solidFill>
                <a:latin typeface="Arial Black"/>
                <a:cs typeface="Arial Black"/>
              </a:rPr>
              <a:t>/</a:t>
            </a:r>
            <a:r>
              <a:rPr sz="1350" spc="-150" dirty="0">
                <a:solidFill>
                  <a:srgbClr val="545759"/>
                </a:solidFill>
                <a:latin typeface="Arial Black"/>
                <a:cs typeface="Arial Black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Arial Black"/>
                <a:cs typeface="Arial Black"/>
              </a:rPr>
              <a:t>Refunded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spc="75" dirty="0">
                <a:solidFill>
                  <a:srgbClr val="545759"/>
                </a:solidFill>
                <a:latin typeface="Tahoma"/>
                <a:cs typeface="Tahoma"/>
              </a:rPr>
              <a:t>04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650" spc="-30" dirty="0">
                <a:solidFill>
                  <a:srgbClr val="545759"/>
                </a:solidFill>
                <a:latin typeface="Verdana"/>
                <a:cs typeface="Verdana"/>
              </a:rPr>
              <a:t>Confirm</a:t>
            </a:r>
            <a:r>
              <a:rPr sz="1650" spc="-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Booking</a:t>
            </a:r>
            <a:endParaRPr sz="1650">
              <a:latin typeface="Verdana"/>
              <a:cs typeface="Verdana"/>
            </a:endParaRPr>
          </a:p>
          <a:p>
            <a:pPr marL="12700" marR="501015">
              <a:lnSpc>
                <a:spcPct val="134300"/>
              </a:lnSpc>
              <a:spcBef>
                <a:spcPts val="1135"/>
              </a:spcBef>
            </a:pP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Return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confirmed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reservation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0" dirty="0">
                <a:solidFill>
                  <a:srgbClr val="545759"/>
                </a:solidFill>
                <a:latin typeface="Verdana"/>
                <a:cs typeface="Verdana"/>
              </a:rPr>
              <a:t>with </a:t>
            </a:r>
            <a:r>
              <a:rPr sz="1350" spc="-85" dirty="0">
                <a:solidFill>
                  <a:srgbClr val="545759"/>
                </a:solidFill>
                <a:latin typeface="Verdana"/>
                <a:cs typeface="Verdana"/>
              </a:rPr>
              <a:t>payment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reference.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3875" y="3114675"/>
            <a:ext cx="6505574" cy="36861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0" dirty="0"/>
              <a:t>Validation,</a:t>
            </a:r>
            <a:r>
              <a:rPr spc="-195" dirty="0"/>
              <a:t> </a:t>
            </a:r>
            <a:r>
              <a:rPr spc="-125" dirty="0"/>
              <a:t>Error</a:t>
            </a:r>
            <a:r>
              <a:rPr spc="-200" dirty="0"/>
              <a:t> </a:t>
            </a:r>
            <a:r>
              <a:rPr spc="-105" dirty="0"/>
              <a:t>Handling</a:t>
            </a:r>
            <a:r>
              <a:rPr spc="-200" dirty="0"/>
              <a:t> </a:t>
            </a:r>
            <a:r>
              <a:rPr spc="-270" dirty="0"/>
              <a:t>&amp;</a:t>
            </a:r>
            <a:r>
              <a:rPr spc="-195" dirty="0"/>
              <a:t> </a:t>
            </a:r>
            <a:r>
              <a:rPr spc="-75" dirty="0"/>
              <a:t>Swagger</a:t>
            </a:r>
            <a:r>
              <a:rPr spc="-200" dirty="0"/>
              <a:t> </a:t>
            </a:r>
            <a:r>
              <a:rPr spc="-45" dirty="0"/>
              <a:t>Testing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1420812"/>
            <a:ext cx="2453005" cy="282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5" dirty="0">
                <a:solidFill>
                  <a:srgbClr val="0C0D0E"/>
                </a:solidFill>
                <a:latin typeface="Verdana"/>
                <a:cs typeface="Verdana"/>
              </a:rPr>
              <a:t>Validation</a:t>
            </a:r>
            <a:r>
              <a:rPr sz="1650" spc="-9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120" dirty="0">
                <a:solidFill>
                  <a:srgbClr val="0C0D0E"/>
                </a:solidFill>
                <a:latin typeface="Verdana"/>
                <a:cs typeface="Verdana"/>
              </a:rPr>
              <a:t>&amp;</a:t>
            </a:r>
            <a:r>
              <a:rPr sz="1650" spc="-9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C0D0E"/>
                </a:solidFill>
                <a:latin typeface="Verdana"/>
                <a:cs typeface="Verdana"/>
              </a:rPr>
              <a:t>Middleware</a:t>
            </a:r>
            <a:endParaRPr sz="165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1895475"/>
            <a:ext cx="3305175" cy="2314575"/>
            <a:chOff x="600075" y="1895475"/>
            <a:chExt cx="3305175" cy="2314575"/>
          </a:xfrm>
        </p:grpSpPr>
        <p:sp>
          <p:nvSpPr>
            <p:cNvPr id="5" name="object 5"/>
            <p:cNvSpPr/>
            <p:nvPr/>
          </p:nvSpPr>
          <p:spPr>
            <a:xfrm>
              <a:off x="604837" y="1900237"/>
              <a:ext cx="3295650" cy="2305050"/>
            </a:xfrm>
            <a:custGeom>
              <a:avLst/>
              <a:gdLst/>
              <a:ahLst/>
              <a:cxnLst/>
              <a:rect l="l" t="t" r="r" b="b"/>
              <a:pathLst>
                <a:path w="3295650" h="2305050">
                  <a:moveTo>
                    <a:pt x="0" y="2181225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98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24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48270" y="25387"/>
                  </a:lnTo>
                  <a:lnTo>
                    <a:pt x="55031" y="20866"/>
                  </a:lnTo>
                  <a:lnTo>
                    <a:pt x="61793" y="16344"/>
                  </a:lnTo>
                  <a:lnTo>
                    <a:pt x="68926" y="12534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787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3171825" y="0"/>
                  </a:lnTo>
                  <a:lnTo>
                    <a:pt x="3179953" y="0"/>
                  </a:lnTo>
                  <a:lnTo>
                    <a:pt x="3188004" y="787"/>
                  </a:lnTo>
                  <a:lnTo>
                    <a:pt x="3195980" y="2374"/>
                  </a:lnTo>
                  <a:lnTo>
                    <a:pt x="3203956" y="3962"/>
                  </a:lnTo>
                  <a:lnTo>
                    <a:pt x="3211703" y="6311"/>
                  </a:lnTo>
                  <a:lnTo>
                    <a:pt x="3219208" y="9423"/>
                  </a:lnTo>
                  <a:lnTo>
                    <a:pt x="3226727" y="12534"/>
                  </a:lnTo>
                  <a:lnTo>
                    <a:pt x="3259378" y="36271"/>
                  </a:lnTo>
                  <a:lnTo>
                    <a:pt x="3283115" y="68922"/>
                  </a:lnTo>
                  <a:lnTo>
                    <a:pt x="3286226" y="76441"/>
                  </a:lnTo>
                  <a:lnTo>
                    <a:pt x="3289338" y="83947"/>
                  </a:lnTo>
                  <a:lnTo>
                    <a:pt x="3291687" y="91694"/>
                  </a:lnTo>
                  <a:lnTo>
                    <a:pt x="3293275" y="99669"/>
                  </a:lnTo>
                  <a:lnTo>
                    <a:pt x="3294862" y="107645"/>
                  </a:lnTo>
                  <a:lnTo>
                    <a:pt x="3295650" y="115697"/>
                  </a:lnTo>
                  <a:lnTo>
                    <a:pt x="3295650" y="123825"/>
                  </a:lnTo>
                  <a:lnTo>
                    <a:pt x="3295650" y="2181225"/>
                  </a:lnTo>
                  <a:lnTo>
                    <a:pt x="3295650" y="2189353"/>
                  </a:lnTo>
                  <a:lnTo>
                    <a:pt x="3294862" y="2197404"/>
                  </a:lnTo>
                  <a:lnTo>
                    <a:pt x="3293275" y="2205380"/>
                  </a:lnTo>
                  <a:lnTo>
                    <a:pt x="3291687" y="2213356"/>
                  </a:lnTo>
                  <a:lnTo>
                    <a:pt x="3289338" y="2221103"/>
                  </a:lnTo>
                  <a:lnTo>
                    <a:pt x="3286226" y="2228608"/>
                  </a:lnTo>
                  <a:lnTo>
                    <a:pt x="3283115" y="2236127"/>
                  </a:lnTo>
                  <a:lnTo>
                    <a:pt x="3259378" y="2268778"/>
                  </a:lnTo>
                  <a:lnTo>
                    <a:pt x="3226727" y="2292515"/>
                  </a:lnTo>
                  <a:lnTo>
                    <a:pt x="3219208" y="2295626"/>
                  </a:lnTo>
                  <a:lnTo>
                    <a:pt x="3211703" y="2298738"/>
                  </a:lnTo>
                  <a:lnTo>
                    <a:pt x="3203956" y="2301087"/>
                  </a:lnTo>
                  <a:lnTo>
                    <a:pt x="3195980" y="2302662"/>
                  </a:lnTo>
                  <a:lnTo>
                    <a:pt x="3188004" y="2304249"/>
                  </a:lnTo>
                  <a:lnTo>
                    <a:pt x="3179953" y="2305050"/>
                  </a:lnTo>
                  <a:lnTo>
                    <a:pt x="3171825" y="2305050"/>
                  </a:lnTo>
                  <a:lnTo>
                    <a:pt x="123825" y="2305050"/>
                  </a:lnTo>
                  <a:lnTo>
                    <a:pt x="115694" y="2305050"/>
                  </a:lnTo>
                  <a:lnTo>
                    <a:pt x="107642" y="2304249"/>
                  </a:lnTo>
                  <a:lnTo>
                    <a:pt x="99669" y="2302662"/>
                  </a:lnTo>
                  <a:lnTo>
                    <a:pt x="91692" y="2301087"/>
                  </a:lnTo>
                  <a:lnTo>
                    <a:pt x="83949" y="2298738"/>
                  </a:lnTo>
                  <a:lnTo>
                    <a:pt x="76438" y="2295626"/>
                  </a:lnTo>
                  <a:lnTo>
                    <a:pt x="68926" y="2292515"/>
                  </a:lnTo>
                  <a:lnTo>
                    <a:pt x="36269" y="2268778"/>
                  </a:lnTo>
                  <a:lnTo>
                    <a:pt x="30519" y="2263025"/>
                  </a:lnTo>
                  <a:lnTo>
                    <a:pt x="9425" y="2228608"/>
                  </a:lnTo>
                  <a:lnTo>
                    <a:pt x="6315" y="2221103"/>
                  </a:lnTo>
                  <a:lnTo>
                    <a:pt x="3963" y="2213356"/>
                  </a:lnTo>
                  <a:lnTo>
                    <a:pt x="2381" y="2205380"/>
                  </a:lnTo>
                  <a:lnTo>
                    <a:pt x="793" y="2197404"/>
                  </a:lnTo>
                  <a:lnTo>
                    <a:pt x="0" y="2189353"/>
                  </a:lnTo>
                  <a:lnTo>
                    <a:pt x="0" y="2181225"/>
                  </a:lnTo>
                  <a:close/>
                </a:path>
              </a:pathLst>
            </a:custGeom>
            <a:ln w="9525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1050" y="207645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231968" y="1244"/>
                  </a:lnTo>
                  <a:lnTo>
                    <a:pt x="223584" y="2057"/>
                  </a:lnTo>
                  <a:lnTo>
                    <a:pt x="174461" y="13512"/>
                  </a:lnTo>
                  <a:lnTo>
                    <a:pt x="128512" y="34340"/>
                  </a:lnTo>
                  <a:lnTo>
                    <a:pt x="87515" y="63715"/>
                  </a:lnTo>
                  <a:lnTo>
                    <a:pt x="53032" y="100533"/>
                  </a:lnTo>
                  <a:lnTo>
                    <a:pt x="26396" y="143370"/>
                  </a:lnTo>
                  <a:lnTo>
                    <a:pt x="8627" y="190588"/>
                  </a:lnTo>
                  <a:lnTo>
                    <a:pt x="411" y="240347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60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71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44"/>
                  </a:lnTo>
                  <a:lnTo>
                    <a:pt x="299085" y="3302"/>
                  </a:lnTo>
                  <a:lnTo>
                    <a:pt x="282381" y="1244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7788" y="2214194"/>
              <a:ext cx="223800" cy="2419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1525" y="3495674"/>
              <a:ext cx="2428875" cy="504825"/>
            </a:xfrm>
            <a:custGeom>
              <a:avLst/>
              <a:gdLst/>
              <a:ahLst/>
              <a:cxnLst/>
              <a:rect l="l" t="t" r="r" b="b"/>
              <a:pathLst>
                <a:path w="2428875" h="504825">
                  <a:moveTo>
                    <a:pt x="666750" y="294817"/>
                  </a:moveTo>
                  <a:lnTo>
                    <a:pt x="648144" y="276225"/>
                  </a:lnTo>
                  <a:lnTo>
                    <a:pt x="18580" y="276225"/>
                  </a:lnTo>
                  <a:lnTo>
                    <a:pt x="0" y="294817"/>
                  </a:lnTo>
                  <a:lnTo>
                    <a:pt x="0" y="483387"/>
                  </a:lnTo>
                  <a:lnTo>
                    <a:pt x="0" y="486244"/>
                  </a:lnTo>
                  <a:lnTo>
                    <a:pt x="18580" y="504825"/>
                  </a:lnTo>
                  <a:lnTo>
                    <a:pt x="648144" y="504825"/>
                  </a:lnTo>
                  <a:lnTo>
                    <a:pt x="666750" y="486244"/>
                  </a:lnTo>
                  <a:lnTo>
                    <a:pt x="666750" y="294817"/>
                  </a:lnTo>
                  <a:close/>
                </a:path>
                <a:path w="2428875" h="504825">
                  <a:moveTo>
                    <a:pt x="2428875" y="18592"/>
                  </a:moveTo>
                  <a:lnTo>
                    <a:pt x="2410282" y="0"/>
                  </a:lnTo>
                  <a:lnTo>
                    <a:pt x="1733092" y="0"/>
                  </a:lnTo>
                  <a:lnTo>
                    <a:pt x="1714500" y="18592"/>
                  </a:lnTo>
                  <a:lnTo>
                    <a:pt x="1714500" y="207162"/>
                  </a:lnTo>
                  <a:lnTo>
                    <a:pt x="1714500" y="210019"/>
                  </a:lnTo>
                  <a:lnTo>
                    <a:pt x="1733092" y="228600"/>
                  </a:lnTo>
                  <a:lnTo>
                    <a:pt x="2410282" y="228600"/>
                  </a:lnTo>
                  <a:lnTo>
                    <a:pt x="2428875" y="210019"/>
                  </a:lnTo>
                  <a:lnTo>
                    <a:pt x="2428875" y="18592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8350" y="2744787"/>
            <a:ext cx="2492375" cy="1255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0" dirty="0">
                <a:solidFill>
                  <a:srgbClr val="545759"/>
                </a:solidFill>
                <a:latin typeface="Verdana"/>
                <a:cs typeface="Verdana"/>
              </a:rPr>
              <a:t>Fluent</a:t>
            </a:r>
            <a:r>
              <a:rPr sz="1650" spc="-10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Validation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DTOs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validated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before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reaching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service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14" dirty="0">
                <a:solidFill>
                  <a:srgbClr val="545759"/>
                </a:solidFill>
                <a:latin typeface="Verdana"/>
                <a:cs typeface="Verdana"/>
              </a:rPr>
              <a:t>layer.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Returns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400</a:t>
            </a:r>
            <a:r>
              <a:rPr sz="1350" spc="-3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Lucida Sans Unicode"/>
                <a:cs typeface="Lucida Sans Unicode"/>
              </a:rPr>
              <a:t>Bad Request</a:t>
            </a:r>
            <a:r>
              <a:rPr sz="1350" spc="-11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field-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level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errors.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5" y="4381500"/>
            <a:ext cx="3305175" cy="25812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68350" y="5230812"/>
            <a:ext cx="2811145" cy="152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30" dirty="0">
                <a:solidFill>
                  <a:srgbClr val="545759"/>
                </a:solidFill>
                <a:latin typeface="Verdana"/>
                <a:cs typeface="Verdana"/>
              </a:rPr>
              <a:t>Exception</a:t>
            </a:r>
            <a:r>
              <a:rPr sz="1650" spc="-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Middleware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2700"/>
              </a:lnSpc>
              <a:spcBef>
                <a:spcPts val="1165"/>
              </a:spcBef>
            </a:pP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Global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middleware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catches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unhandled</a:t>
            </a:r>
            <a:r>
              <a:rPr sz="1350" spc="-1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exceptions,</a:t>
            </a:r>
            <a:r>
              <a:rPr sz="1350" spc="-1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logs</a:t>
            </a:r>
            <a:r>
              <a:rPr sz="1350" spc="-1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details,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returns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consistent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85" dirty="0">
                <a:solidFill>
                  <a:srgbClr val="545759"/>
                </a:solidFill>
                <a:latin typeface="Lucida Sans Unicode"/>
                <a:cs typeface="Lucida Sans Unicode"/>
              </a:rPr>
              <a:t>500</a:t>
            </a:r>
            <a:r>
              <a:rPr sz="1350" spc="-125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error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responses.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0075" y="7134225"/>
            <a:ext cx="3305175" cy="2305050"/>
            <a:chOff x="600075" y="7134225"/>
            <a:chExt cx="3305175" cy="2305050"/>
          </a:xfrm>
        </p:grpSpPr>
        <p:sp>
          <p:nvSpPr>
            <p:cNvPr id="13" name="object 13"/>
            <p:cNvSpPr/>
            <p:nvPr/>
          </p:nvSpPr>
          <p:spPr>
            <a:xfrm>
              <a:off x="604837" y="7138987"/>
              <a:ext cx="3295650" cy="2295525"/>
            </a:xfrm>
            <a:custGeom>
              <a:avLst/>
              <a:gdLst/>
              <a:ahLst/>
              <a:cxnLst/>
              <a:rect l="l" t="t" r="r" b="b"/>
              <a:pathLst>
                <a:path w="3295650" h="2295525">
                  <a:moveTo>
                    <a:pt x="0" y="2171698"/>
                  </a:moveTo>
                  <a:lnTo>
                    <a:pt x="0" y="123825"/>
                  </a:lnTo>
                  <a:lnTo>
                    <a:pt x="0" y="115697"/>
                  </a:lnTo>
                  <a:lnTo>
                    <a:pt x="793" y="107645"/>
                  </a:lnTo>
                  <a:lnTo>
                    <a:pt x="2381" y="99669"/>
                  </a:lnTo>
                  <a:lnTo>
                    <a:pt x="3963" y="91694"/>
                  </a:lnTo>
                  <a:lnTo>
                    <a:pt x="6315" y="83947"/>
                  </a:lnTo>
                  <a:lnTo>
                    <a:pt x="9425" y="76441"/>
                  </a:lnTo>
                  <a:lnTo>
                    <a:pt x="12536" y="68922"/>
                  </a:lnTo>
                  <a:lnTo>
                    <a:pt x="16351" y="61798"/>
                  </a:lnTo>
                  <a:lnTo>
                    <a:pt x="20866" y="55029"/>
                  </a:lnTo>
                  <a:lnTo>
                    <a:pt x="25384" y="48272"/>
                  </a:lnTo>
                  <a:lnTo>
                    <a:pt x="30519" y="42011"/>
                  </a:lnTo>
                  <a:lnTo>
                    <a:pt x="36269" y="36271"/>
                  </a:lnTo>
                  <a:lnTo>
                    <a:pt x="42014" y="30518"/>
                  </a:lnTo>
                  <a:lnTo>
                    <a:pt x="48270" y="25387"/>
                  </a:lnTo>
                  <a:lnTo>
                    <a:pt x="55031" y="20866"/>
                  </a:lnTo>
                  <a:lnTo>
                    <a:pt x="61793" y="16344"/>
                  </a:lnTo>
                  <a:lnTo>
                    <a:pt x="68926" y="12534"/>
                  </a:lnTo>
                  <a:lnTo>
                    <a:pt x="76438" y="9423"/>
                  </a:lnTo>
                  <a:lnTo>
                    <a:pt x="83949" y="6311"/>
                  </a:lnTo>
                  <a:lnTo>
                    <a:pt x="91692" y="3962"/>
                  </a:lnTo>
                  <a:lnTo>
                    <a:pt x="99669" y="2374"/>
                  </a:lnTo>
                  <a:lnTo>
                    <a:pt x="107642" y="787"/>
                  </a:lnTo>
                  <a:lnTo>
                    <a:pt x="115694" y="0"/>
                  </a:lnTo>
                  <a:lnTo>
                    <a:pt x="123825" y="0"/>
                  </a:lnTo>
                  <a:lnTo>
                    <a:pt x="3171825" y="0"/>
                  </a:lnTo>
                  <a:lnTo>
                    <a:pt x="3179953" y="0"/>
                  </a:lnTo>
                  <a:lnTo>
                    <a:pt x="3188004" y="787"/>
                  </a:lnTo>
                  <a:lnTo>
                    <a:pt x="3195980" y="2374"/>
                  </a:lnTo>
                  <a:lnTo>
                    <a:pt x="3203956" y="3962"/>
                  </a:lnTo>
                  <a:lnTo>
                    <a:pt x="3211703" y="6311"/>
                  </a:lnTo>
                  <a:lnTo>
                    <a:pt x="3219208" y="9423"/>
                  </a:lnTo>
                  <a:lnTo>
                    <a:pt x="3226727" y="12534"/>
                  </a:lnTo>
                  <a:lnTo>
                    <a:pt x="3259378" y="36271"/>
                  </a:lnTo>
                  <a:lnTo>
                    <a:pt x="3265131" y="42011"/>
                  </a:lnTo>
                  <a:lnTo>
                    <a:pt x="3286226" y="76441"/>
                  </a:lnTo>
                  <a:lnTo>
                    <a:pt x="3289338" y="83947"/>
                  </a:lnTo>
                  <a:lnTo>
                    <a:pt x="3291687" y="91694"/>
                  </a:lnTo>
                  <a:lnTo>
                    <a:pt x="3293275" y="99669"/>
                  </a:lnTo>
                  <a:lnTo>
                    <a:pt x="3294862" y="107645"/>
                  </a:lnTo>
                  <a:lnTo>
                    <a:pt x="3295650" y="115697"/>
                  </a:lnTo>
                  <a:lnTo>
                    <a:pt x="3295650" y="123825"/>
                  </a:lnTo>
                  <a:lnTo>
                    <a:pt x="3295650" y="2171698"/>
                  </a:lnTo>
                  <a:lnTo>
                    <a:pt x="3295650" y="2179830"/>
                  </a:lnTo>
                  <a:lnTo>
                    <a:pt x="3294862" y="2187881"/>
                  </a:lnTo>
                  <a:lnTo>
                    <a:pt x="3293275" y="2195854"/>
                  </a:lnTo>
                  <a:lnTo>
                    <a:pt x="3291687" y="2203831"/>
                  </a:lnTo>
                  <a:lnTo>
                    <a:pt x="3274783" y="2240492"/>
                  </a:lnTo>
                  <a:lnTo>
                    <a:pt x="3270262" y="2247253"/>
                  </a:lnTo>
                  <a:lnTo>
                    <a:pt x="3240620" y="2274653"/>
                  </a:lnTo>
                  <a:lnTo>
                    <a:pt x="3219208" y="2286097"/>
                  </a:lnTo>
                  <a:lnTo>
                    <a:pt x="3211703" y="2289209"/>
                  </a:lnTo>
                  <a:lnTo>
                    <a:pt x="3203956" y="2291555"/>
                  </a:lnTo>
                  <a:lnTo>
                    <a:pt x="3195980" y="2293142"/>
                  </a:lnTo>
                  <a:lnTo>
                    <a:pt x="3188004" y="2294730"/>
                  </a:lnTo>
                  <a:lnTo>
                    <a:pt x="3179953" y="2295523"/>
                  </a:lnTo>
                  <a:lnTo>
                    <a:pt x="3171825" y="2295523"/>
                  </a:lnTo>
                  <a:lnTo>
                    <a:pt x="123825" y="2295523"/>
                  </a:lnTo>
                  <a:lnTo>
                    <a:pt x="115694" y="2295523"/>
                  </a:lnTo>
                  <a:lnTo>
                    <a:pt x="107642" y="2294730"/>
                  </a:lnTo>
                  <a:lnTo>
                    <a:pt x="99669" y="2293142"/>
                  </a:lnTo>
                  <a:lnTo>
                    <a:pt x="91692" y="2291555"/>
                  </a:lnTo>
                  <a:lnTo>
                    <a:pt x="83949" y="2289209"/>
                  </a:lnTo>
                  <a:lnTo>
                    <a:pt x="76438" y="2286097"/>
                  </a:lnTo>
                  <a:lnTo>
                    <a:pt x="68926" y="2282987"/>
                  </a:lnTo>
                  <a:lnTo>
                    <a:pt x="61793" y="2279172"/>
                  </a:lnTo>
                  <a:lnTo>
                    <a:pt x="55031" y="2274653"/>
                  </a:lnTo>
                  <a:lnTo>
                    <a:pt x="48270" y="2270139"/>
                  </a:lnTo>
                  <a:lnTo>
                    <a:pt x="42014" y="2265004"/>
                  </a:lnTo>
                  <a:lnTo>
                    <a:pt x="36269" y="2259255"/>
                  </a:lnTo>
                  <a:lnTo>
                    <a:pt x="30519" y="2253504"/>
                  </a:lnTo>
                  <a:lnTo>
                    <a:pt x="9425" y="2219086"/>
                  </a:lnTo>
                  <a:lnTo>
                    <a:pt x="2381" y="2195854"/>
                  </a:lnTo>
                  <a:lnTo>
                    <a:pt x="793" y="2187881"/>
                  </a:lnTo>
                  <a:lnTo>
                    <a:pt x="0" y="2179830"/>
                  </a:lnTo>
                  <a:lnTo>
                    <a:pt x="0" y="2171698"/>
                  </a:lnTo>
                  <a:close/>
                </a:path>
              </a:pathLst>
            </a:custGeom>
            <a:ln w="9525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1050" y="731520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0"/>
                  </a:moveTo>
                  <a:lnTo>
                    <a:pt x="248751" y="0"/>
                  </a:lnTo>
                  <a:lnTo>
                    <a:pt x="240347" y="406"/>
                  </a:lnTo>
                  <a:lnTo>
                    <a:pt x="231968" y="1244"/>
                  </a:lnTo>
                  <a:lnTo>
                    <a:pt x="223584" y="2057"/>
                  </a:lnTo>
                  <a:lnTo>
                    <a:pt x="174461" y="13512"/>
                  </a:lnTo>
                  <a:lnTo>
                    <a:pt x="128512" y="34340"/>
                  </a:lnTo>
                  <a:lnTo>
                    <a:pt x="87515" y="63715"/>
                  </a:lnTo>
                  <a:lnTo>
                    <a:pt x="53032" y="100533"/>
                  </a:lnTo>
                  <a:lnTo>
                    <a:pt x="26396" y="143370"/>
                  </a:lnTo>
                  <a:lnTo>
                    <a:pt x="8627" y="190576"/>
                  </a:lnTo>
                  <a:lnTo>
                    <a:pt x="411" y="240347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83" y="315607"/>
                  </a:lnTo>
                  <a:lnTo>
                    <a:pt x="22800" y="363372"/>
                  </a:lnTo>
                  <a:lnTo>
                    <a:pt x="48022" y="407047"/>
                  </a:lnTo>
                  <a:lnTo>
                    <a:pt x="81280" y="444982"/>
                  </a:lnTo>
                  <a:lnTo>
                    <a:pt x="121300" y="475691"/>
                  </a:lnTo>
                  <a:lnTo>
                    <a:pt x="166538" y="497992"/>
                  </a:lnTo>
                  <a:lnTo>
                    <a:pt x="215265" y="511048"/>
                  </a:lnTo>
                  <a:lnTo>
                    <a:pt x="248751" y="514350"/>
                  </a:lnTo>
                  <a:lnTo>
                    <a:pt x="265598" y="514350"/>
                  </a:lnTo>
                  <a:lnTo>
                    <a:pt x="315610" y="507771"/>
                  </a:lnTo>
                  <a:lnTo>
                    <a:pt x="363373" y="491553"/>
                  </a:lnTo>
                  <a:lnTo>
                    <a:pt x="407055" y="466331"/>
                  </a:lnTo>
                  <a:lnTo>
                    <a:pt x="444981" y="433070"/>
                  </a:lnTo>
                  <a:lnTo>
                    <a:pt x="475689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28" y="107289"/>
                  </a:lnTo>
                  <a:lnTo>
                    <a:pt x="433070" y="69367"/>
                  </a:lnTo>
                  <a:lnTo>
                    <a:pt x="393049" y="38658"/>
                  </a:lnTo>
                  <a:lnTo>
                    <a:pt x="347811" y="16344"/>
                  </a:lnTo>
                  <a:lnTo>
                    <a:pt x="299085" y="3302"/>
                  </a:lnTo>
                  <a:lnTo>
                    <a:pt x="282381" y="1244"/>
                  </a:lnTo>
                  <a:lnTo>
                    <a:pt x="274002" y="406"/>
                  </a:lnTo>
                  <a:lnTo>
                    <a:pt x="265598" y="0"/>
                  </a:lnTo>
                  <a:close/>
                </a:path>
              </a:pathLst>
            </a:custGeom>
            <a:solidFill>
              <a:srgbClr val="FF6F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3925" y="7470952"/>
              <a:ext cx="231428" cy="20574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276475" y="8458200"/>
              <a:ext cx="742950" cy="228600"/>
            </a:xfrm>
            <a:custGeom>
              <a:avLst/>
              <a:gdLst/>
              <a:ahLst/>
              <a:cxnLst/>
              <a:rect l="l" t="t" r="r" b="b"/>
              <a:pathLst>
                <a:path w="742950" h="228600">
                  <a:moveTo>
                    <a:pt x="72435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207162"/>
                  </a:lnTo>
                  <a:lnTo>
                    <a:pt x="0" y="210007"/>
                  </a:lnTo>
                  <a:lnTo>
                    <a:pt x="18592" y="228600"/>
                  </a:lnTo>
                  <a:lnTo>
                    <a:pt x="724357" y="228600"/>
                  </a:lnTo>
                  <a:lnTo>
                    <a:pt x="742950" y="210007"/>
                  </a:lnTo>
                  <a:lnTo>
                    <a:pt x="742950" y="18592"/>
                  </a:lnTo>
                  <a:lnTo>
                    <a:pt x="727100" y="546"/>
                  </a:lnTo>
                  <a:lnTo>
                    <a:pt x="72435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8343" y="7983537"/>
            <a:ext cx="2780665" cy="1255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30" dirty="0">
                <a:solidFill>
                  <a:srgbClr val="545759"/>
                </a:solidFill>
                <a:latin typeface="Verdana"/>
                <a:cs typeface="Verdana"/>
              </a:rPr>
              <a:t>Swagger</a:t>
            </a:r>
            <a:r>
              <a:rPr sz="1650" spc="-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25" dirty="0">
                <a:solidFill>
                  <a:srgbClr val="545759"/>
                </a:solidFill>
                <a:latin typeface="Verdana"/>
                <a:cs typeface="Verdana"/>
              </a:rPr>
              <a:t>UI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4300"/>
              </a:lnSpc>
              <a:spcBef>
                <a:spcPts val="1140"/>
              </a:spcBef>
            </a:pP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Interactive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docs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at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Lucida Sans Unicode"/>
                <a:cs typeface="Lucida Sans Unicode"/>
              </a:rPr>
              <a:t>/swagger</a:t>
            </a:r>
            <a:r>
              <a:rPr sz="1350" spc="-12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350" spc="-300" dirty="0">
                <a:solidFill>
                  <a:srgbClr val="545759"/>
                </a:solidFill>
                <a:latin typeface="Verdana"/>
                <a:cs typeface="Verdana"/>
              </a:rPr>
              <a:t>—</a:t>
            </a:r>
            <a:r>
              <a:rPr sz="1350" spc="-16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test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endpoints,</a:t>
            </a:r>
            <a:r>
              <a:rPr sz="1350" spc="-1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inspect</a:t>
            </a:r>
            <a:r>
              <a:rPr sz="1350" spc="-1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schemas,</a:t>
            </a:r>
            <a:r>
              <a:rPr sz="1350" spc="-13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validate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responses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live.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33875" y="3609975"/>
            <a:ext cx="6505574" cy="36861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7374" y="1168400"/>
            <a:ext cx="752602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Challenges,</a:t>
            </a:r>
            <a:r>
              <a:rPr spc="-190" dirty="0"/>
              <a:t> </a:t>
            </a:r>
            <a:r>
              <a:rPr spc="-70" dirty="0"/>
              <a:t>Learnings</a:t>
            </a:r>
            <a:r>
              <a:rPr spc="-190" dirty="0"/>
              <a:t> </a:t>
            </a:r>
            <a:r>
              <a:rPr spc="-270" dirty="0"/>
              <a:t>&amp;</a:t>
            </a:r>
            <a:r>
              <a:rPr spc="-185" dirty="0"/>
              <a:t> </a:t>
            </a:r>
            <a:r>
              <a:rPr spc="-65" dirty="0"/>
              <a:t>What's</a:t>
            </a:r>
            <a:r>
              <a:rPr spc="-190" dirty="0"/>
              <a:t> </a:t>
            </a:r>
            <a:r>
              <a:rPr spc="-60" dirty="0"/>
              <a:t>Next</a:t>
            </a:r>
          </a:p>
        </p:txBody>
      </p:sp>
      <p:sp>
        <p:nvSpPr>
          <p:cNvPr id="3" name="object 3"/>
          <p:cNvSpPr/>
          <p:nvPr/>
        </p:nvSpPr>
        <p:spPr>
          <a:xfrm>
            <a:off x="604837" y="3549650"/>
            <a:ext cx="381000" cy="371475"/>
          </a:xfrm>
          <a:custGeom>
            <a:avLst/>
            <a:gdLst/>
            <a:ahLst/>
            <a:cxnLst/>
            <a:rect l="l" t="t" r="r" b="b"/>
            <a:pathLst>
              <a:path w="381000" h="371475">
                <a:moveTo>
                  <a:pt x="0" y="247649"/>
                </a:moveTo>
                <a:lnTo>
                  <a:pt x="0" y="123824"/>
                </a:lnTo>
                <a:lnTo>
                  <a:pt x="0" y="115694"/>
                </a:lnTo>
                <a:lnTo>
                  <a:pt x="793" y="107641"/>
                </a:lnTo>
                <a:lnTo>
                  <a:pt x="2379" y="99667"/>
                </a:lnTo>
                <a:lnTo>
                  <a:pt x="3965" y="91693"/>
                </a:lnTo>
                <a:lnTo>
                  <a:pt x="6314" y="83950"/>
                </a:lnTo>
                <a:lnTo>
                  <a:pt x="9425" y="76438"/>
                </a:lnTo>
                <a:lnTo>
                  <a:pt x="12536" y="68927"/>
                </a:lnTo>
                <a:lnTo>
                  <a:pt x="16351" y="61791"/>
                </a:lnTo>
                <a:lnTo>
                  <a:pt x="20868" y="55031"/>
                </a:lnTo>
                <a:lnTo>
                  <a:pt x="25385" y="48270"/>
                </a:lnTo>
                <a:lnTo>
                  <a:pt x="30518" y="42016"/>
                </a:lnTo>
                <a:lnTo>
                  <a:pt x="36267" y="36267"/>
                </a:lnTo>
                <a:lnTo>
                  <a:pt x="42016" y="30518"/>
                </a:lnTo>
                <a:lnTo>
                  <a:pt x="76439" y="9425"/>
                </a:lnTo>
                <a:lnTo>
                  <a:pt x="99667" y="2379"/>
                </a:lnTo>
                <a:lnTo>
                  <a:pt x="107642" y="792"/>
                </a:lnTo>
                <a:lnTo>
                  <a:pt x="115694" y="0"/>
                </a:lnTo>
                <a:lnTo>
                  <a:pt x="123825" y="0"/>
                </a:lnTo>
                <a:lnTo>
                  <a:pt x="257175" y="0"/>
                </a:lnTo>
                <a:lnTo>
                  <a:pt x="265305" y="0"/>
                </a:lnTo>
                <a:lnTo>
                  <a:pt x="273357" y="792"/>
                </a:lnTo>
                <a:lnTo>
                  <a:pt x="281331" y="2379"/>
                </a:lnTo>
                <a:lnTo>
                  <a:pt x="289306" y="3965"/>
                </a:lnTo>
                <a:lnTo>
                  <a:pt x="325968" y="20868"/>
                </a:lnTo>
                <a:lnTo>
                  <a:pt x="332728" y="25385"/>
                </a:lnTo>
                <a:lnTo>
                  <a:pt x="338983" y="30518"/>
                </a:lnTo>
                <a:lnTo>
                  <a:pt x="344732" y="36267"/>
                </a:lnTo>
                <a:lnTo>
                  <a:pt x="350481" y="42016"/>
                </a:lnTo>
                <a:lnTo>
                  <a:pt x="371574" y="76438"/>
                </a:lnTo>
                <a:lnTo>
                  <a:pt x="374685" y="83950"/>
                </a:lnTo>
                <a:lnTo>
                  <a:pt x="381000" y="123824"/>
                </a:lnTo>
                <a:lnTo>
                  <a:pt x="381000" y="247649"/>
                </a:lnTo>
                <a:lnTo>
                  <a:pt x="380999" y="255780"/>
                </a:lnTo>
                <a:lnTo>
                  <a:pt x="380206" y="263832"/>
                </a:lnTo>
                <a:lnTo>
                  <a:pt x="378620" y="271806"/>
                </a:lnTo>
                <a:lnTo>
                  <a:pt x="377034" y="279781"/>
                </a:lnTo>
                <a:lnTo>
                  <a:pt x="374685" y="287524"/>
                </a:lnTo>
                <a:lnTo>
                  <a:pt x="371574" y="295035"/>
                </a:lnTo>
                <a:lnTo>
                  <a:pt x="368462" y="302546"/>
                </a:lnTo>
                <a:lnTo>
                  <a:pt x="344732" y="335207"/>
                </a:lnTo>
                <a:lnTo>
                  <a:pt x="312072" y="358937"/>
                </a:lnTo>
                <a:lnTo>
                  <a:pt x="281331" y="369095"/>
                </a:lnTo>
                <a:lnTo>
                  <a:pt x="273357" y="370681"/>
                </a:lnTo>
                <a:lnTo>
                  <a:pt x="265305" y="371474"/>
                </a:lnTo>
                <a:lnTo>
                  <a:pt x="257175" y="371474"/>
                </a:lnTo>
                <a:lnTo>
                  <a:pt x="123825" y="371474"/>
                </a:lnTo>
                <a:lnTo>
                  <a:pt x="115694" y="371474"/>
                </a:lnTo>
                <a:lnTo>
                  <a:pt x="107642" y="370681"/>
                </a:lnTo>
                <a:lnTo>
                  <a:pt x="99667" y="369095"/>
                </a:lnTo>
                <a:lnTo>
                  <a:pt x="91693" y="367508"/>
                </a:lnTo>
                <a:lnTo>
                  <a:pt x="55031" y="350606"/>
                </a:lnTo>
                <a:lnTo>
                  <a:pt x="25385" y="323203"/>
                </a:lnTo>
                <a:lnTo>
                  <a:pt x="9425" y="295035"/>
                </a:lnTo>
                <a:lnTo>
                  <a:pt x="6314" y="287524"/>
                </a:lnTo>
                <a:lnTo>
                  <a:pt x="3965" y="279781"/>
                </a:lnTo>
                <a:lnTo>
                  <a:pt x="2379" y="271806"/>
                </a:lnTo>
                <a:lnTo>
                  <a:pt x="793" y="263832"/>
                </a:lnTo>
                <a:lnTo>
                  <a:pt x="0" y="255780"/>
                </a:lnTo>
                <a:lnTo>
                  <a:pt x="0" y="247649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90674" y="4059237"/>
            <a:ext cx="1571625" cy="228600"/>
          </a:xfrm>
          <a:custGeom>
            <a:avLst/>
            <a:gdLst/>
            <a:ahLst/>
            <a:cxnLst/>
            <a:rect l="l" t="t" r="r" b="b"/>
            <a:pathLst>
              <a:path w="1571625" h="228600">
                <a:moveTo>
                  <a:pt x="1553035" y="228599"/>
                </a:moveTo>
                <a:lnTo>
                  <a:pt x="18589" y="228599"/>
                </a:lnTo>
                <a:lnTo>
                  <a:pt x="15855" y="228055"/>
                </a:lnTo>
                <a:lnTo>
                  <a:pt x="0" y="210010"/>
                </a:lnTo>
                <a:lnTo>
                  <a:pt x="0" y="207168"/>
                </a:lnTo>
                <a:lnTo>
                  <a:pt x="0" y="18589"/>
                </a:lnTo>
                <a:lnTo>
                  <a:pt x="18589" y="0"/>
                </a:lnTo>
                <a:lnTo>
                  <a:pt x="1553035" y="0"/>
                </a:lnTo>
                <a:lnTo>
                  <a:pt x="1571624" y="18589"/>
                </a:lnTo>
                <a:lnTo>
                  <a:pt x="1571624" y="210010"/>
                </a:lnTo>
                <a:lnTo>
                  <a:pt x="1555769" y="228055"/>
                </a:lnTo>
                <a:lnTo>
                  <a:pt x="1553035" y="2285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4837" y="4940300"/>
            <a:ext cx="381000" cy="371475"/>
          </a:xfrm>
          <a:custGeom>
            <a:avLst/>
            <a:gdLst/>
            <a:ahLst/>
            <a:cxnLst/>
            <a:rect l="l" t="t" r="r" b="b"/>
            <a:pathLst>
              <a:path w="381000" h="371475">
                <a:moveTo>
                  <a:pt x="0" y="247649"/>
                </a:moveTo>
                <a:lnTo>
                  <a:pt x="0" y="123824"/>
                </a:lnTo>
                <a:lnTo>
                  <a:pt x="0" y="115694"/>
                </a:lnTo>
                <a:lnTo>
                  <a:pt x="793" y="107641"/>
                </a:lnTo>
                <a:lnTo>
                  <a:pt x="2379" y="99667"/>
                </a:lnTo>
                <a:lnTo>
                  <a:pt x="3965" y="91693"/>
                </a:lnTo>
                <a:lnTo>
                  <a:pt x="6314" y="83950"/>
                </a:lnTo>
                <a:lnTo>
                  <a:pt x="25385" y="48270"/>
                </a:lnTo>
                <a:lnTo>
                  <a:pt x="36267" y="36267"/>
                </a:lnTo>
                <a:lnTo>
                  <a:pt x="42016" y="30517"/>
                </a:lnTo>
                <a:lnTo>
                  <a:pt x="48271" y="25384"/>
                </a:lnTo>
                <a:lnTo>
                  <a:pt x="55031" y="20867"/>
                </a:lnTo>
                <a:lnTo>
                  <a:pt x="61791" y="16350"/>
                </a:lnTo>
                <a:lnTo>
                  <a:pt x="68927" y="12536"/>
                </a:lnTo>
                <a:lnTo>
                  <a:pt x="76439" y="9425"/>
                </a:lnTo>
                <a:lnTo>
                  <a:pt x="83950" y="6313"/>
                </a:lnTo>
                <a:lnTo>
                  <a:pt x="91693" y="3965"/>
                </a:lnTo>
                <a:lnTo>
                  <a:pt x="99667" y="2378"/>
                </a:lnTo>
                <a:lnTo>
                  <a:pt x="107642" y="792"/>
                </a:lnTo>
                <a:lnTo>
                  <a:pt x="115694" y="0"/>
                </a:lnTo>
                <a:lnTo>
                  <a:pt x="123825" y="0"/>
                </a:lnTo>
                <a:lnTo>
                  <a:pt x="257175" y="0"/>
                </a:lnTo>
                <a:lnTo>
                  <a:pt x="265305" y="0"/>
                </a:lnTo>
                <a:lnTo>
                  <a:pt x="273357" y="792"/>
                </a:lnTo>
                <a:lnTo>
                  <a:pt x="281331" y="2378"/>
                </a:lnTo>
                <a:lnTo>
                  <a:pt x="289306" y="3965"/>
                </a:lnTo>
                <a:lnTo>
                  <a:pt x="297049" y="6313"/>
                </a:lnTo>
                <a:lnTo>
                  <a:pt x="304560" y="9425"/>
                </a:lnTo>
                <a:lnTo>
                  <a:pt x="312072" y="12536"/>
                </a:lnTo>
                <a:lnTo>
                  <a:pt x="319208" y="16350"/>
                </a:lnTo>
                <a:lnTo>
                  <a:pt x="325968" y="20867"/>
                </a:lnTo>
                <a:lnTo>
                  <a:pt x="332728" y="25384"/>
                </a:lnTo>
                <a:lnTo>
                  <a:pt x="338983" y="30517"/>
                </a:lnTo>
                <a:lnTo>
                  <a:pt x="344732" y="36267"/>
                </a:lnTo>
                <a:lnTo>
                  <a:pt x="350481" y="42016"/>
                </a:lnTo>
                <a:lnTo>
                  <a:pt x="371574" y="76438"/>
                </a:lnTo>
                <a:lnTo>
                  <a:pt x="378620" y="99667"/>
                </a:lnTo>
                <a:lnTo>
                  <a:pt x="380206" y="107641"/>
                </a:lnTo>
                <a:lnTo>
                  <a:pt x="380999" y="115694"/>
                </a:lnTo>
                <a:lnTo>
                  <a:pt x="381000" y="123824"/>
                </a:lnTo>
                <a:lnTo>
                  <a:pt x="381000" y="247649"/>
                </a:lnTo>
                <a:lnTo>
                  <a:pt x="380999" y="255780"/>
                </a:lnTo>
                <a:lnTo>
                  <a:pt x="380206" y="263832"/>
                </a:lnTo>
                <a:lnTo>
                  <a:pt x="378620" y="271806"/>
                </a:lnTo>
                <a:lnTo>
                  <a:pt x="377034" y="279781"/>
                </a:lnTo>
                <a:lnTo>
                  <a:pt x="374685" y="287524"/>
                </a:lnTo>
                <a:lnTo>
                  <a:pt x="371574" y="295035"/>
                </a:lnTo>
                <a:lnTo>
                  <a:pt x="368462" y="302546"/>
                </a:lnTo>
                <a:lnTo>
                  <a:pt x="344732" y="335207"/>
                </a:lnTo>
                <a:lnTo>
                  <a:pt x="338983" y="340956"/>
                </a:lnTo>
                <a:lnTo>
                  <a:pt x="332728" y="346089"/>
                </a:lnTo>
                <a:lnTo>
                  <a:pt x="325968" y="350606"/>
                </a:lnTo>
                <a:lnTo>
                  <a:pt x="319208" y="355123"/>
                </a:lnTo>
                <a:lnTo>
                  <a:pt x="281331" y="369095"/>
                </a:lnTo>
                <a:lnTo>
                  <a:pt x="273357" y="370681"/>
                </a:lnTo>
                <a:lnTo>
                  <a:pt x="265305" y="371474"/>
                </a:lnTo>
                <a:lnTo>
                  <a:pt x="257175" y="371474"/>
                </a:lnTo>
                <a:lnTo>
                  <a:pt x="123825" y="371474"/>
                </a:lnTo>
                <a:lnTo>
                  <a:pt x="115694" y="371474"/>
                </a:lnTo>
                <a:lnTo>
                  <a:pt x="107642" y="370681"/>
                </a:lnTo>
                <a:lnTo>
                  <a:pt x="99667" y="369095"/>
                </a:lnTo>
                <a:lnTo>
                  <a:pt x="91693" y="367509"/>
                </a:lnTo>
                <a:lnTo>
                  <a:pt x="55031" y="350606"/>
                </a:lnTo>
                <a:lnTo>
                  <a:pt x="36267" y="335207"/>
                </a:lnTo>
                <a:lnTo>
                  <a:pt x="30518" y="329458"/>
                </a:lnTo>
                <a:lnTo>
                  <a:pt x="9425" y="295035"/>
                </a:lnTo>
                <a:lnTo>
                  <a:pt x="6314" y="287523"/>
                </a:lnTo>
                <a:lnTo>
                  <a:pt x="3965" y="279780"/>
                </a:lnTo>
                <a:lnTo>
                  <a:pt x="2379" y="271806"/>
                </a:lnTo>
                <a:lnTo>
                  <a:pt x="793" y="263832"/>
                </a:lnTo>
                <a:lnTo>
                  <a:pt x="0" y="255780"/>
                </a:lnTo>
                <a:lnTo>
                  <a:pt x="0" y="247649"/>
                </a:lnTo>
                <a:close/>
              </a:path>
            </a:pathLst>
          </a:custGeom>
          <a:ln w="9524">
            <a:solidFill>
              <a:srgbClr val="FF6F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87374" y="3060700"/>
            <a:ext cx="4848860" cy="2893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0" dirty="0">
                <a:solidFill>
                  <a:srgbClr val="0C0D0E"/>
                </a:solidFill>
                <a:latin typeface="Verdana"/>
                <a:cs typeface="Verdana"/>
              </a:rPr>
              <a:t>Challenges</a:t>
            </a:r>
            <a:r>
              <a:rPr sz="1650" spc="-10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120" dirty="0">
                <a:solidFill>
                  <a:srgbClr val="0C0D0E"/>
                </a:solidFill>
                <a:latin typeface="Verdana"/>
                <a:cs typeface="Verdana"/>
              </a:rPr>
              <a:t>&amp;</a:t>
            </a:r>
            <a:r>
              <a:rPr sz="1650" spc="-10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C0D0E"/>
                </a:solidFill>
                <a:latin typeface="Verdana"/>
                <a:cs typeface="Verdana"/>
              </a:rPr>
              <a:t>Solutions</a:t>
            </a:r>
            <a:endParaRPr sz="16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650" dirty="0">
              <a:latin typeface="Verdana"/>
              <a:cs typeface="Verdana"/>
            </a:endParaRPr>
          </a:p>
          <a:p>
            <a:pPr marL="569595">
              <a:lnSpc>
                <a:spcPct val="100000"/>
              </a:lnSpc>
            </a:pPr>
            <a:r>
              <a:rPr sz="1650" spc="-55" dirty="0">
                <a:solidFill>
                  <a:srgbClr val="545759"/>
                </a:solidFill>
                <a:latin typeface="Verdana"/>
                <a:cs typeface="Verdana"/>
              </a:rPr>
              <a:t>DB</a:t>
            </a:r>
            <a:r>
              <a:rPr sz="1650" spc="-10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30" dirty="0">
                <a:solidFill>
                  <a:srgbClr val="545759"/>
                </a:solidFill>
                <a:latin typeface="Verdana"/>
                <a:cs typeface="Verdana"/>
              </a:rPr>
              <a:t>First</a:t>
            </a:r>
            <a:r>
              <a:rPr sz="1650" spc="-10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Scaffolding</a:t>
            </a:r>
            <a:endParaRPr sz="1650" dirty="0">
              <a:latin typeface="Verdana"/>
              <a:cs typeface="Verdana"/>
            </a:endParaRPr>
          </a:p>
          <a:p>
            <a:pPr marL="569595" marR="358775">
              <a:lnSpc>
                <a:spcPct val="134300"/>
              </a:lnSpc>
              <a:spcBef>
                <a:spcPts val="1140"/>
              </a:spcBef>
            </a:pP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Used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Lucida Sans Unicode"/>
                <a:cs typeface="Lucida Sans Unicode"/>
              </a:rPr>
              <a:t>Scaffold-</a:t>
            </a:r>
            <a:r>
              <a:rPr sz="1350" spc="-60" dirty="0">
                <a:solidFill>
                  <a:srgbClr val="545759"/>
                </a:solidFill>
                <a:latin typeface="Lucida Sans Unicode"/>
                <a:cs typeface="Lucida Sans Unicode"/>
              </a:rPr>
              <a:t>DbContext</a:t>
            </a:r>
            <a:r>
              <a:rPr sz="1350" spc="-100" dirty="0">
                <a:solidFill>
                  <a:srgbClr val="545759"/>
                </a:solidFill>
                <a:latin typeface="Lucida Sans Unicode"/>
                <a:cs typeface="Lucida Sans Unicode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careful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namespace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configuration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align</a:t>
            </a:r>
            <a:r>
              <a:rPr sz="1350" spc="-14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generated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models.</a:t>
            </a: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50" dirty="0">
              <a:latin typeface="Verdana"/>
              <a:cs typeface="Verdana"/>
            </a:endParaRPr>
          </a:p>
          <a:p>
            <a:pPr marL="569595">
              <a:lnSpc>
                <a:spcPct val="100000"/>
              </a:lnSpc>
            </a:pPr>
            <a:r>
              <a:rPr sz="1650" spc="-35" dirty="0">
                <a:solidFill>
                  <a:srgbClr val="545759"/>
                </a:solidFill>
                <a:latin typeface="Verdana"/>
                <a:cs typeface="Verdana"/>
              </a:rPr>
              <a:t>Many-</a:t>
            </a:r>
            <a:r>
              <a:rPr sz="1650" spc="-20" dirty="0">
                <a:solidFill>
                  <a:srgbClr val="545759"/>
                </a:solidFill>
                <a:latin typeface="Verdana"/>
                <a:cs typeface="Verdana"/>
              </a:rPr>
              <a:t>to-</a:t>
            </a: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Many</a:t>
            </a:r>
            <a:r>
              <a:rPr sz="1650" spc="-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Mapping</a:t>
            </a:r>
            <a:endParaRPr sz="1650" dirty="0">
              <a:latin typeface="Verdana"/>
              <a:cs typeface="Verdana"/>
            </a:endParaRPr>
          </a:p>
          <a:p>
            <a:pPr marL="569595" marR="5080">
              <a:lnSpc>
                <a:spcPct val="134300"/>
              </a:lnSpc>
              <a:spcBef>
                <a:spcPts val="1140"/>
              </a:spcBef>
            </a:pP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Explicit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junction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entities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composite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keys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35" dirty="0">
                <a:solidFill>
                  <a:srgbClr val="545759"/>
                </a:solidFill>
                <a:latin typeface="Verdana"/>
                <a:cs typeface="Verdana"/>
              </a:rPr>
              <a:t>replaced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implicit</a:t>
            </a:r>
            <a:r>
              <a:rPr sz="1350" spc="-15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45759"/>
                </a:solidFill>
                <a:latin typeface="Verdana"/>
                <a:cs typeface="Verdana"/>
              </a:rPr>
              <a:t>EF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Core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0" dirty="0">
                <a:solidFill>
                  <a:srgbClr val="545759"/>
                </a:solidFill>
                <a:latin typeface="Verdana"/>
                <a:cs typeface="Verdana"/>
              </a:rPr>
              <a:t>many-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to-</a:t>
            </a:r>
            <a:r>
              <a:rPr sz="1350" spc="-20" dirty="0">
                <a:solidFill>
                  <a:srgbClr val="545759"/>
                </a:solidFill>
                <a:latin typeface="Verdana"/>
                <a:cs typeface="Verdana"/>
              </a:rPr>
              <a:t>many.</a:t>
            </a:r>
            <a:endParaRPr sz="1350" dirty="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5352" y="6946787"/>
            <a:ext cx="358087" cy="24470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025351" y="8330763"/>
            <a:ext cx="358140" cy="258445"/>
            <a:chOff x="5926479" y="4052450"/>
            <a:chExt cx="358140" cy="25844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6479" y="4052450"/>
              <a:ext cx="358090" cy="2580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962909" y="4060045"/>
              <a:ext cx="276860" cy="635"/>
            </a:xfrm>
            <a:custGeom>
              <a:avLst/>
              <a:gdLst/>
              <a:ahLst/>
              <a:cxnLst/>
              <a:rect l="l" t="t" r="r" b="b"/>
              <a:pathLst>
                <a:path w="276860" h="635">
                  <a:moveTo>
                    <a:pt x="276310" y="0"/>
                  </a:moveTo>
                  <a:lnTo>
                    <a:pt x="0" y="50"/>
                  </a:lnTo>
                </a:path>
              </a:pathLst>
            </a:custGeom>
            <a:ln w="15190">
              <a:solidFill>
                <a:srgbClr val="FF6F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19800" y="6413500"/>
            <a:ext cx="4690110" cy="28936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0" dirty="0">
                <a:solidFill>
                  <a:srgbClr val="0C0D0E"/>
                </a:solidFill>
                <a:latin typeface="Verdana"/>
                <a:cs typeface="Verdana"/>
              </a:rPr>
              <a:t>Future</a:t>
            </a:r>
            <a:r>
              <a:rPr sz="1650" spc="-90" dirty="0">
                <a:solidFill>
                  <a:srgbClr val="0C0D0E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0C0D0E"/>
                </a:solidFill>
                <a:latin typeface="Verdana"/>
                <a:cs typeface="Verdana"/>
              </a:rPr>
              <a:t>Enhancements</a:t>
            </a:r>
            <a:endParaRPr sz="16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650">
              <a:latin typeface="Verdana"/>
              <a:cs typeface="Verdana"/>
            </a:endParaRPr>
          </a:p>
          <a:p>
            <a:pPr marL="569595">
              <a:lnSpc>
                <a:spcPct val="100000"/>
              </a:lnSpc>
            </a:pPr>
            <a:r>
              <a:rPr sz="1650" dirty="0">
                <a:solidFill>
                  <a:srgbClr val="545759"/>
                </a:solidFill>
                <a:latin typeface="Verdana"/>
                <a:cs typeface="Verdana"/>
              </a:rPr>
              <a:t>Cloud</a:t>
            </a:r>
            <a:r>
              <a:rPr sz="1650" spc="-1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Deployment</a:t>
            </a:r>
            <a:endParaRPr sz="1650">
              <a:latin typeface="Verdana"/>
              <a:cs typeface="Verdana"/>
            </a:endParaRPr>
          </a:p>
          <a:p>
            <a:pPr marL="569595" marR="322580">
              <a:lnSpc>
                <a:spcPct val="134300"/>
              </a:lnSpc>
              <a:spcBef>
                <a:spcPts val="1140"/>
              </a:spcBef>
            </a:pPr>
            <a:r>
              <a:rPr sz="1350" spc="-80" dirty="0">
                <a:solidFill>
                  <a:srgbClr val="545759"/>
                </a:solidFill>
                <a:latin typeface="Verdana"/>
                <a:cs typeface="Verdana"/>
              </a:rPr>
              <a:t>Deploy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0" dirty="0">
                <a:solidFill>
                  <a:srgbClr val="545759"/>
                </a:solidFill>
                <a:latin typeface="Verdana"/>
                <a:cs typeface="Verdana"/>
              </a:rPr>
              <a:t>to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5" dirty="0">
                <a:solidFill>
                  <a:srgbClr val="545759"/>
                </a:solidFill>
                <a:latin typeface="Verdana"/>
                <a:cs typeface="Verdana"/>
              </a:rPr>
              <a:t>Azure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or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35" dirty="0">
                <a:solidFill>
                  <a:srgbClr val="545759"/>
                </a:solidFill>
                <a:latin typeface="Verdana"/>
                <a:cs typeface="Verdana"/>
              </a:rPr>
              <a:t>AWS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with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90" dirty="0">
                <a:solidFill>
                  <a:srgbClr val="545759"/>
                </a:solidFill>
                <a:latin typeface="Verdana"/>
                <a:cs typeface="Verdana"/>
              </a:rPr>
              <a:t>CI/CD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pipelines</a:t>
            </a:r>
            <a:r>
              <a:rPr sz="1350" spc="-17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25" dirty="0">
                <a:solidFill>
                  <a:srgbClr val="545759"/>
                </a:solidFill>
                <a:latin typeface="Verdana"/>
                <a:cs typeface="Verdana"/>
              </a:rPr>
              <a:t>and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Docker</a:t>
            </a:r>
            <a:r>
              <a:rPr sz="1350" spc="-17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containerization.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350">
              <a:latin typeface="Verdana"/>
              <a:cs typeface="Verdana"/>
            </a:endParaRPr>
          </a:p>
          <a:p>
            <a:pPr marL="569595">
              <a:lnSpc>
                <a:spcPct val="100000"/>
              </a:lnSpc>
            </a:pPr>
            <a:r>
              <a:rPr sz="1650" spc="-55" dirty="0">
                <a:solidFill>
                  <a:srgbClr val="545759"/>
                </a:solidFill>
                <a:latin typeface="Verdana"/>
                <a:cs typeface="Verdana"/>
              </a:rPr>
              <a:t>Email</a:t>
            </a:r>
            <a:r>
              <a:rPr sz="1650" spc="-11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545759"/>
                </a:solidFill>
                <a:latin typeface="Verdana"/>
                <a:cs typeface="Verdana"/>
              </a:rPr>
              <a:t>Notifications</a:t>
            </a:r>
            <a:endParaRPr sz="1650">
              <a:latin typeface="Verdana"/>
              <a:cs typeface="Verdana"/>
            </a:endParaRPr>
          </a:p>
          <a:p>
            <a:pPr marL="569595" marR="5080">
              <a:lnSpc>
                <a:spcPct val="134300"/>
              </a:lnSpc>
              <a:spcBef>
                <a:spcPts val="1140"/>
              </a:spcBef>
            </a:pP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Automated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5" dirty="0">
                <a:solidFill>
                  <a:srgbClr val="545759"/>
                </a:solidFill>
                <a:latin typeface="Verdana"/>
                <a:cs typeface="Verdana"/>
              </a:rPr>
              <a:t>booking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50" dirty="0">
                <a:solidFill>
                  <a:srgbClr val="545759"/>
                </a:solidFill>
                <a:latin typeface="Verdana"/>
                <a:cs typeface="Verdana"/>
              </a:rPr>
              <a:t>confirmations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60" dirty="0">
                <a:solidFill>
                  <a:srgbClr val="545759"/>
                </a:solidFill>
                <a:latin typeface="Verdana"/>
                <a:cs typeface="Verdana"/>
              </a:rPr>
              <a:t>and</a:t>
            </a:r>
            <a:r>
              <a:rPr sz="1350" spc="-14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5" dirty="0">
                <a:solidFill>
                  <a:srgbClr val="545759"/>
                </a:solidFill>
                <a:latin typeface="Verdana"/>
                <a:cs typeface="Verdana"/>
              </a:rPr>
              <a:t>reminders</a:t>
            </a:r>
            <a:r>
              <a:rPr sz="1350" spc="-15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45" dirty="0">
                <a:solidFill>
                  <a:srgbClr val="545759"/>
                </a:solidFill>
                <a:latin typeface="Verdana"/>
                <a:cs typeface="Verdana"/>
              </a:rPr>
              <a:t>via SMTP</a:t>
            </a:r>
            <a:r>
              <a:rPr sz="1350" spc="-185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70" dirty="0">
                <a:solidFill>
                  <a:srgbClr val="545759"/>
                </a:solidFill>
                <a:latin typeface="Verdana"/>
                <a:cs typeface="Verdana"/>
              </a:rPr>
              <a:t>or</a:t>
            </a:r>
            <a:r>
              <a:rPr sz="1350" spc="-180" dirty="0">
                <a:solidFill>
                  <a:srgbClr val="545759"/>
                </a:solidFill>
                <a:latin typeface="Verdana"/>
                <a:cs typeface="Verdana"/>
              </a:rPr>
              <a:t> </a:t>
            </a:r>
            <a:r>
              <a:rPr sz="1350" spc="-10" dirty="0">
                <a:solidFill>
                  <a:srgbClr val="545759"/>
                </a:solidFill>
                <a:latin typeface="Verdana"/>
                <a:cs typeface="Verdana"/>
              </a:rPr>
              <a:t>SendGrid.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771</Words>
  <Application>Microsoft Office PowerPoint</Application>
  <PresentationFormat>Custom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Lucida Sans Unicode</vt:lpstr>
      <vt:lpstr>Tahoma</vt:lpstr>
      <vt:lpstr>Verdana</vt:lpstr>
      <vt:lpstr>Office Theme</vt:lpstr>
      <vt:lpstr>Hotel Management System API</vt:lpstr>
      <vt:lpstr>Project Overview</vt:lpstr>
      <vt:lpstr>Technology Stack</vt:lpstr>
      <vt:lpstr>System Architecture</vt:lpstr>
      <vt:lpstr>Database Design</vt:lpstr>
      <vt:lpstr>Hotel Module APIs</vt:lpstr>
      <vt:lpstr>Hotel Amenity Module APIs</vt:lpstr>
      <vt:lpstr>Reservation &amp; Payment Modules</vt:lpstr>
      <vt:lpstr>Validation, Error Handling &amp; Swagger Testing</vt:lpstr>
      <vt:lpstr>Challenges, Learnings &amp; What's Next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Shivansh Agrawal</dc:creator>
  <cp:lastModifiedBy>Shivansh Agrawal</cp:lastModifiedBy>
  <cp:revision>2</cp:revision>
  <dcterms:created xsi:type="dcterms:W3CDTF">2026-05-18T19:09:44Z</dcterms:created>
  <dcterms:modified xsi:type="dcterms:W3CDTF">2026-05-18T19:30:07Z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2026-05-18T00:00:00Z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2026-05-18T00:00:00Z</vt:filetime>
  </property>
  <property fmtid="{D5CDD505-2E9C-101B-9397-08002B2CF9AE}" pid="6" name="Producer">
    <vt:lpwstr>pdf-lib (https://github.com/Hopding/pdf-lib)</vt:lpwstr>
  </property>
</Properties>
</file>